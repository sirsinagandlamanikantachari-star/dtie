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embeddedFontLst>
    <p:embeddedFont>
      <p:font typeface="Calibri" panose="020F050202020403020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457700"/>
            <a:ext cx="109728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695450"/>
            <a:ext cx="2705100" cy="333375"/>
          </a:xfrm>
          <a:prstGeom prst="roundRect">
            <a:avLst>
              <a:gd name="adj" fmla="val 50000"/>
            </a:avLst>
          </a:prstGeom>
          <a:solidFill>
            <a:srgbClr val="153049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257425"/>
            <a:ext cx="5876925" cy="1104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10"/>
              </a:lnSpc>
            </a:pPr>
            <a:r>
              <a:rPr sz="3750" b="1" i="0" u="none">
                <a:solidFill>
                  <a:srgbClr val="FFFFFF"/>
                </a:solidFill>
                <a:latin typeface="Plus Jakarta Sans"/>
              </a:rPr>
              <a:t>Smart Classroom &amp; AI Timetable Generator</a:t>
            </a:r>
            <a:endParaRPr sz="375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3543300"/>
            <a:ext cx="5671185" cy="1153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An end-to-end intelligent platform that automates conflict-free schedule generation while controlling classroom noise, door access, and live campus updates in real time.</a:t>
            </a:r>
            <a:endParaRPr sz="15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1050" y="1752600"/>
            <a:ext cx="24574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Major Project Presentation</a:t>
            </a:r>
            <a:endParaRPr sz="1050" b="1" i="0" u="none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4733925"/>
            <a:ext cx="3452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PROJECT LEAD &amp; PRESENTERS</a:t>
            </a:r>
            <a:endParaRPr sz="1050" b="1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4943475"/>
            <a:ext cx="248138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8FAFC"/>
                </a:solidFill>
                <a:latin typeface="Plus Jakarta Sans"/>
              </a:rPr>
              <a:t>Manikanta </a:t>
            </a:r>
            <a:r>
              <a:rPr lang="en-IN" sz="1350" b="1" i="0" u="none">
                <a:solidFill>
                  <a:srgbClr val="F8FAFC"/>
                </a:solidFill>
                <a:latin typeface="Plus Jakarta Sans"/>
              </a:rPr>
              <a:t>,</a:t>
            </a:r>
            <a:r>
              <a:rPr sz="1350" b="1" i="0" u="none">
                <a:solidFill>
                  <a:srgbClr val="F8FAFC"/>
                </a:solidFill>
                <a:latin typeface="Plus Jakarta Sans"/>
              </a:rPr>
              <a:t>Vignesh &amp; Ram Charan</a:t>
            </a:r>
            <a:endParaRPr sz="1350" b="1" i="0" u="none">
              <a:solidFill>
                <a:srgbClr val="F8FAFC"/>
              </a:solidFill>
              <a:latin typeface="Plus Jakarta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3595" y="278130"/>
            <a:ext cx="4189095" cy="6267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73935" y="1740693"/>
            <a:ext cx="5808464" cy="1386482"/>
          </a:xfrm>
          <a:prstGeom prst="roundRect">
            <a:avLst>
              <a:gd name="adj" fmla="val 96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73935" y="3298626"/>
            <a:ext cx="5808464" cy="1386482"/>
          </a:xfrm>
          <a:prstGeom prst="roundRect">
            <a:avLst>
              <a:gd name="adj" fmla="val 96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73935" y="4856559"/>
            <a:ext cx="5808464" cy="1165621"/>
          </a:xfrm>
          <a:prstGeom prst="roundRect">
            <a:avLst>
              <a:gd name="adj" fmla="val 114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881187"/>
            <a:ext cx="4859535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890712"/>
            <a:ext cx="4840485" cy="398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010" y="1988343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010" y="3546276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3010" y="5104209"/>
            <a:ext cx="219075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01 / PROBLEM IDENTIFICATION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7239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Existing Challenges in Campus Management</a:t>
            </a:r>
            <a:endParaRPr sz="25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93010" y="2245518"/>
            <a:ext cx="5465564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Drafting timetables manually takes weeks of administrative effort, frequently causing human calculation errors, faculty timing clashes, and unorganized course schedules.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93010" y="3803451"/>
            <a:ext cx="5465564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Uncoordinated bookings result in two classes assigned to one room, overcrowded lecture halls, and sudden room reassignments that confuse students and staff.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93010" y="5361384"/>
            <a:ext cx="5465564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4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Excessive hallway chatter, unmonitored noise, and unauthorized walk-ins disrupt active lectures, degrading student focus and class quality.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78760" y="1959768"/>
            <a:ext cx="362545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Manual Scheduling Bottlenecks</a:t>
            </a:r>
            <a:endParaRPr sz="142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59710" y="3517701"/>
            <a:ext cx="37504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Room Overlaps &amp; Overcrowding</a:t>
            </a:r>
            <a:endParaRPr sz="142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26385" y="5075634"/>
            <a:ext cx="343792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Hallway Disturbances &amp; Noise</a:t>
            </a:r>
            <a:endParaRPr sz="1425" b="1" i="0" u="none">
              <a:solidFill>
                <a:srgbClr val="0F172A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0175"/>
            <a:ext cx="3505200" cy="496252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400175"/>
            <a:ext cx="3505200" cy="496252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400175"/>
            <a:ext cx="3505200" cy="496252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25" y="1676400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25" y="1676400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425" y="1676400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312" y="1790700"/>
            <a:ext cx="2381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112" y="1790700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3912" y="1790700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02 / EMPATHY &amp; USER RESEARCH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7239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Key Stakeholder Pain Points</a:t>
            </a:r>
            <a:endParaRPr sz="25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5825" y="2247900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Main Struggle: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Managing conflicting class times and last-minute room swaps.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9625" y="2247900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Main Struggle: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Unclear schedule changes and noisy learning environments.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53425" y="2247900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Main Struggle: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Labor-intensive manual coordination across departments.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19225" y="1752600"/>
            <a:ext cx="230028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Faculty Members</a:t>
            </a:r>
            <a:endParaRPr sz="16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0125" y="2855118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76325" y="2857500"/>
            <a:ext cx="2857500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Loss of lecture time re-verifying room allocations.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0125" y="3359943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76325" y="3362325"/>
            <a:ext cx="2857500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Frustration from back-to-back classes in distant blocks.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0125" y="3864768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6325" y="3867150"/>
            <a:ext cx="2857500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Lack of automatic rest period enforcement in schedules.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53025" y="1752600"/>
            <a:ext cx="127015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Students</a:t>
            </a:r>
            <a:endParaRPr sz="16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33925" y="3083718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10125" y="3086100"/>
            <a:ext cx="2857500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Confusion from outdated paper timetables on notice boards.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33925" y="3588543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10125" y="3590925"/>
            <a:ext cx="2857500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Distractions caused by hallway noise during continuous lectures.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33925" y="4093368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10125" y="4095750"/>
            <a:ext cx="2857500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Unplanned walk-ins interrupting focused study sessions.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886825" y="1752600"/>
            <a:ext cx="198774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Administration</a:t>
            </a:r>
            <a:endParaRPr sz="16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67725" y="2855118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43925" y="2857500"/>
            <a:ext cx="2857500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Tedious spreadsheet processing for hundreds of courses.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67725" y="3359943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43925" y="3362325"/>
            <a:ext cx="2857500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Difficulty tracking room capacity utilization efficiently.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467725" y="3864768"/>
            <a:ext cx="76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43925" y="3867150"/>
            <a:ext cx="2857500" cy="428625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High administrative overhead when handling leave requests.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73935" y="1483518"/>
            <a:ext cx="5808464" cy="1238250"/>
          </a:xfrm>
          <a:prstGeom prst="roundRect">
            <a:avLst>
              <a:gd name="adj" fmla="val 1076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73935" y="2874168"/>
            <a:ext cx="5808464" cy="1033462"/>
          </a:xfrm>
          <a:prstGeom prst="roundRect">
            <a:avLst>
              <a:gd name="adj" fmla="val 110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73935" y="4060031"/>
            <a:ext cx="5808464" cy="1033462"/>
          </a:xfrm>
          <a:prstGeom prst="roundRect">
            <a:avLst>
              <a:gd name="adj" fmla="val 110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73935" y="5245893"/>
            <a:ext cx="5808464" cy="1033462"/>
          </a:xfrm>
          <a:prstGeom prst="roundRect">
            <a:avLst>
              <a:gd name="adj" fmla="val 110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28812"/>
            <a:ext cx="4859535" cy="3905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938337"/>
            <a:ext cx="4840485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03 / SYSTEM VISION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7239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Core System Architecture &amp; Objectives</a:t>
            </a:r>
            <a:endParaRPr sz="25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02535" y="1712118"/>
            <a:ext cx="5446514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Primary Objective</a:t>
            </a:r>
            <a:endParaRPr sz="975" b="1" i="0" u="none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02535" y="1921668"/>
            <a:ext cx="5446514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800" b="1" i="0" u="none">
                <a:solidFill>
                  <a:srgbClr val="FFFFFF"/>
                </a:solidFill>
                <a:latin typeface="Plus Jakarta Sans"/>
              </a:rPr>
              <a:t>Deliver a 100% Conflict-Free Smart Campus Ecosystem</a:t>
            </a:r>
            <a:endParaRPr sz="18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93010" y="3055143"/>
            <a:ext cx="619898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1. Algorithmic Scheduling Engine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93010" y="3312318"/>
            <a:ext cx="5465564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Automatically evaluates faculty workloads, lab equipment needs, and room capacities to generate optimal timetables within seconds.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93010" y="4241006"/>
            <a:ext cx="619898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2. Automated Environmental Control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93010" y="4498181"/>
            <a:ext cx="5465564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Monitors hallway noise levels, triggers automated door locks during ongoing lectures, and dims lights in empty classrooms to save power.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93010" y="5426868"/>
            <a:ext cx="619898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3. Real-Time Campus Synchronization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93010" y="5684043"/>
            <a:ext cx="5465564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Instantly syncs schedule updates to student mobile apps, faculty web dashboards, and digital room displays outside every classroom.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12206"/>
            <a:ext cx="5391150" cy="1383506"/>
          </a:xfrm>
          <a:prstGeom prst="roundRect">
            <a:avLst>
              <a:gd name="adj" fmla="val 110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412206"/>
            <a:ext cx="5391150" cy="1383506"/>
          </a:xfrm>
          <a:prstGeom prst="roundRect">
            <a:avLst>
              <a:gd name="adj" fmla="val 110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67162"/>
            <a:ext cx="5391150" cy="1383506"/>
          </a:xfrm>
          <a:prstGeom prst="roundRect">
            <a:avLst>
              <a:gd name="adj" fmla="val 110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967162"/>
            <a:ext cx="5391150" cy="1383506"/>
          </a:xfrm>
          <a:prstGeom prst="roundRect">
            <a:avLst>
              <a:gd name="adj" fmla="val 110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25" y="2650331"/>
            <a:ext cx="47625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9375" y="2650331"/>
            <a:ext cx="53340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205287"/>
            <a:ext cx="476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4205287"/>
            <a:ext cx="476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" y="2783681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2783681"/>
            <a:ext cx="26670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4338637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4338637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04 / BRAINSTORMING &amp; INNOVATION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7239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Four Core Innovation Pillars</a:t>
            </a:r>
            <a:endParaRPr sz="25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95425" y="2650331"/>
            <a:ext cx="56007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1. AI Schedule Generator</a:t>
            </a:r>
            <a:endParaRPr sz="142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95425" y="2936081"/>
            <a:ext cx="43624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Uses constraint-satisfaction algorithms to test thousands of time slot combinations, eliminating double-bookings and room conflicts.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34225" y="2650331"/>
            <a:ext cx="50577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2. Teacher Rules Engine</a:t>
            </a:r>
            <a:endParaRPr sz="142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34225" y="2936081"/>
            <a:ext cx="430530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Configures maximum daily workloads, preferred working hours, subject expertise, and mandatory rest intervals for every faculty member.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95425" y="4205287"/>
            <a:ext cx="56007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3. Smart Room Matcher</a:t>
            </a:r>
            <a:endParaRPr sz="142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95425" y="4491037"/>
            <a:ext cx="43624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Pairs classes with rooms according to student capacity, projector availability, specialized lab requirements, and campus location.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77075" y="4205287"/>
            <a:ext cx="51149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4. IoT Hardware Hub</a:t>
            </a:r>
            <a:endParaRPr sz="142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77075" y="4491037"/>
            <a:ext cx="4362450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Integrates smart door access locks, decibel noise sensors, and digital doorway displays connected to a central control unit.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00237"/>
            <a:ext cx="10972800" cy="790575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24162"/>
            <a:ext cx="10972800" cy="9715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29062"/>
            <a:ext cx="10972800" cy="790575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852987"/>
            <a:ext cx="10972800" cy="9715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2128837"/>
            <a:ext cx="857250" cy="333375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3143250"/>
            <a:ext cx="857250" cy="333375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7725" y="4157662"/>
            <a:ext cx="857250" cy="333375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7725" y="5172075"/>
            <a:ext cx="857250" cy="333375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05 / FEATURE SELECTION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7239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Prioritized Feature Implementation Stack</a:t>
            </a:r>
            <a:endParaRPr sz="25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7250" y="2205037"/>
            <a:ext cx="838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2563EB"/>
                </a:solidFill>
                <a:latin typeface="Plus Jakarta Sans"/>
              </a:rPr>
              <a:t>RANK 1</a:t>
            </a:r>
            <a:endParaRPr sz="1125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7250" y="3219450"/>
            <a:ext cx="838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2563EB"/>
                </a:solidFill>
                <a:latin typeface="Plus Jakarta Sans"/>
              </a:rPr>
              <a:t>RANK 2</a:t>
            </a:r>
            <a:endParaRPr sz="1125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7250" y="4233862"/>
            <a:ext cx="838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2563EB"/>
                </a:solidFill>
                <a:latin typeface="Plus Jakarta Sans"/>
              </a:rPr>
              <a:t>RANK 3</a:t>
            </a:r>
            <a:endParaRPr sz="1125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7250" y="5248275"/>
            <a:ext cx="838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2563EB"/>
                </a:solidFill>
                <a:latin typeface="Plus Jakarta Sans"/>
              </a:rPr>
              <a:t>RANK 4</a:t>
            </a:r>
            <a:endParaRPr sz="1125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95475" y="2081212"/>
            <a:ext cx="102965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AI Schedule Generator (Core Engine)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95475" y="2328862"/>
            <a:ext cx="102965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Highest impact feature. Automatically resolves overlapping teacher assignments, subject constraints, and classroom capacities.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95475" y="3005137"/>
            <a:ext cx="102965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Smart Door Locks &amp; Sound Level Sensors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95475" y="3252787"/>
            <a:ext cx="95440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Essential hardware layer. Restricts unauthorized entrance during active class sessions and alerts students when hallway noise exceeds acceptable levels.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95475" y="4110037"/>
            <a:ext cx="102965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Student Mobile App &amp; Digital Door Displays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95475" y="4357687"/>
            <a:ext cx="102965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Provides real-time schedule visibility across campus, pushing push notifications whenever a room change or faculty update occurs.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95475" y="5033962"/>
            <a:ext cx="102965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Automated Energy Management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95475" y="5281612"/>
            <a:ext cx="95440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Secondary optimization feature. Cuts electricity waste by turning off HVAC and lighting systems automatically when classrooms are unoccupied.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0175"/>
            <a:ext cx="3505200" cy="496252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400175"/>
            <a:ext cx="3505200" cy="496252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400175"/>
            <a:ext cx="3505200" cy="496252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06 / SYSTEM ARCHITECTURE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7239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Unified Smart Campus Execution Flow</a:t>
            </a:r>
            <a:endParaRPr sz="25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5825" y="1676400"/>
            <a:ext cx="3690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STEP 01</a:t>
            </a:r>
            <a:endParaRPr sz="975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5825" y="1943100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Data Ingestion Phase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5825" y="2276475"/>
            <a:ext cx="304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Administrators upload essential campus data via the central web portal: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19625" y="1676400"/>
            <a:ext cx="3690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STEP 02</a:t>
            </a:r>
            <a:endParaRPr sz="975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19625" y="1943100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AI Engine Processing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19625" y="2276475"/>
            <a:ext cx="304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The AI scheduling algorithm evaluates complex multi-variable rules: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53425" y="1676400"/>
            <a:ext cx="3690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STEP 03</a:t>
            </a:r>
            <a:endParaRPr sz="975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53425" y="1943100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Live Campus Sync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53425" y="2276475"/>
            <a:ext cx="304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Finalized timetables are pushed instantly across all connected systems: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81075" y="2819400"/>
            <a:ext cx="76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•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7275" y="2819400"/>
            <a:ext cx="3476625" cy="20002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Faculty availability &amp; course lists.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1075" y="3076575"/>
            <a:ext cx="76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•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57275" y="3076575"/>
            <a:ext cx="3476625" cy="20002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Room capacities &amp; lab equipment.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81075" y="3333750"/>
            <a:ext cx="76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•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7275" y="3333750"/>
            <a:ext cx="3476625" cy="20002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Student batch sizes &amp; time preferences.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14875" y="2819400"/>
            <a:ext cx="76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•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791075" y="2819400"/>
            <a:ext cx="3476625" cy="20002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Eliminates double-booked professors.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14875" y="3076575"/>
            <a:ext cx="76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•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91075" y="3076575"/>
            <a:ext cx="3476625" cy="20002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Prevents room capacity overflow.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14875" y="3333750"/>
            <a:ext cx="76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•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91075" y="3333750"/>
            <a:ext cx="3476625" cy="20002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Generates clash-free schedules in seconds.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48675" y="2819400"/>
            <a:ext cx="76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•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24875" y="2819400"/>
            <a:ext cx="3476625" cy="20002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Digital e-ink displays outside classrooms.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48675" y="3076575"/>
            <a:ext cx="76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•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24875" y="3076575"/>
            <a:ext cx="3476625" cy="20002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Student mobile app timelines.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48675" y="3333750"/>
            <a:ext cx="76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•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24875" y="3333750"/>
            <a:ext cx="3476625" cy="20002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IoT smart door access relays.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11528" y="1782365"/>
            <a:ext cx="5070871" cy="1297781"/>
          </a:xfrm>
          <a:prstGeom prst="roundRect">
            <a:avLst>
              <a:gd name="adj" fmla="val 102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1528" y="3232546"/>
            <a:ext cx="5070871" cy="1297781"/>
          </a:xfrm>
          <a:prstGeom prst="roundRect">
            <a:avLst>
              <a:gd name="adj" fmla="val 102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1528" y="4682728"/>
            <a:ext cx="5070871" cy="1297781"/>
          </a:xfrm>
          <a:prstGeom prst="roundRect">
            <a:avLst>
              <a:gd name="adj" fmla="val 102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28812"/>
            <a:ext cx="5597128" cy="3905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938337"/>
            <a:ext cx="5578078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07 / PROTOTYPE DESIGN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7239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Software Dashboard &amp; IoT Hardware Prototype</a:t>
            </a:r>
            <a:endParaRPr sz="25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11553" y="1982390"/>
            <a:ext cx="54804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Central Administrator Web Dashboard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11553" y="2258615"/>
            <a:ext cx="4766071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Allows administrators to upload CSV rosters, configure scheduling constraints, run the AI generator, and monitor real-time room occupancy across campus.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11553" y="3432571"/>
            <a:ext cx="54804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Student &amp; Faculty Mobile Interface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11553" y="3708796"/>
            <a:ext cx="4766071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Provides students and teachers with personalized daily schedules, real-time push notifications for room swaps, and live class attendance updates.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11553" y="4882753"/>
            <a:ext cx="54804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Classroom Door IoT Display Module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11553" y="5158978"/>
            <a:ext cx="4766071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Mounted outside each lecture hall. Shows the current ongoing lecture, next scheduled session, live noise alerts, and controls RFID door access.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00175"/>
            <a:ext cx="2614612" cy="4962525"/>
          </a:xfrm>
          <a:prstGeom prst="roundRect">
            <a:avLst>
              <a:gd name="adj" fmla="val 58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5662" y="1400175"/>
            <a:ext cx="2614612" cy="4962525"/>
          </a:xfrm>
          <a:prstGeom prst="roundRect">
            <a:avLst>
              <a:gd name="adj" fmla="val 58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81725" y="1400175"/>
            <a:ext cx="2614612" cy="4962525"/>
          </a:xfrm>
          <a:prstGeom prst="roundRect">
            <a:avLst>
              <a:gd name="adj" fmla="val 58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7787" y="1400175"/>
            <a:ext cx="2614612" cy="4962525"/>
          </a:xfrm>
          <a:prstGeom prst="roundRect">
            <a:avLst>
              <a:gd name="adj" fmla="val 58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8675" y="1619250"/>
            <a:ext cx="361950" cy="361950"/>
          </a:xfrm>
          <a:prstGeom prst="roundRect">
            <a:avLst>
              <a:gd name="adj" fmla="val 26315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4737" y="1619250"/>
            <a:ext cx="361950" cy="361950"/>
          </a:xfrm>
          <a:prstGeom prst="roundRect">
            <a:avLst>
              <a:gd name="adj" fmla="val 26315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619250"/>
            <a:ext cx="361950" cy="361950"/>
          </a:xfrm>
          <a:prstGeom prst="roundRect">
            <a:avLst>
              <a:gd name="adj" fmla="val 26315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86862" y="1619250"/>
            <a:ext cx="361950" cy="361950"/>
          </a:xfrm>
          <a:prstGeom prst="roundRect">
            <a:avLst>
              <a:gd name="adj" fmla="val 26315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08 / OPERATIONAL DEMONSTRATION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7239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Step-by-Step Live Workflow Walkthrough</a:t>
            </a:r>
            <a:endParaRPr sz="25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1619250"/>
            <a:ext cx="6477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Plus Jakarta Sans"/>
              </a:rPr>
              <a:t>1</a:t>
            </a:r>
            <a:endParaRPr sz="12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8675" y="2114550"/>
            <a:ext cx="285660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Upload Data</a:t>
            </a:r>
            <a:endParaRPr sz="127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8675" y="2400300"/>
            <a:ext cx="2271712" cy="773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Load faculty working hours, course requirements, student numbers, and room capacity limits into the central cloud database.</a:t>
            </a:r>
            <a:endParaRPr sz="10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71862" y="1619250"/>
            <a:ext cx="6477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Plus Jakarta Sans"/>
              </a:rPr>
              <a:t>2</a:t>
            </a:r>
            <a:endParaRPr sz="12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14737" y="2114550"/>
            <a:ext cx="285660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Run AI Engine</a:t>
            </a:r>
            <a:endParaRPr sz="127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14737" y="2400300"/>
            <a:ext cx="2271712" cy="773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Execute constraint optimization rules to generate master timetables without timing overlaps or room double-bookings.</a:t>
            </a:r>
            <a:endParaRPr sz="10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57925" y="1619250"/>
            <a:ext cx="6477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Plus Jakarta Sans"/>
              </a:rPr>
              <a:t>3</a:t>
            </a:r>
            <a:endParaRPr sz="12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2114550"/>
            <a:ext cx="285660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Deploy IoT Sync</a:t>
            </a:r>
            <a:endParaRPr sz="127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2400300"/>
            <a:ext cx="2271712" cy="773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Broadcast generated schedules to digital hallway displays, activate smart door lock timers, and sync student mobile apps.</a:t>
            </a:r>
            <a:endParaRPr sz="105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43987" y="1619250"/>
            <a:ext cx="64770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Plus Jakarta Sans"/>
              </a:rPr>
              <a:t>4</a:t>
            </a:r>
            <a:endParaRPr sz="12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86862" y="2114550"/>
            <a:ext cx="285660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Live System Check</a:t>
            </a:r>
            <a:endParaRPr sz="1275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86862" y="2400300"/>
            <a:ext cx="2271712" cy="966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0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System auto-locks classroom doors during active lectures, triggers visual noise alerts in corridors, and dims lights in empty rooms.</a:t>
            </a:r>
            <a:endParaRPr sz="105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19662" y="1862137"/>
            <a:ext cx="2352675" cy="333375"/>
          </a:xfrm>
          <a:prstGeom prst="roundRect">
            <a:avLst>
              <a:gd name="adj" fmla="val 50000"/>
            </a:avLst>
          </a:prstGeom>
          <a:solidFill>
            <a:srgbClr val="153049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10250" y="4443412"/>
            <a:ext cx="5715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16078" y="1919287"/>
            <a:ext cx="255984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Summary &amp; Q&amp;A Session</a:t>
            </a:r>
            <a:endParaRPr sz="1050" b="1" i="0" u="none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20765" y="2424112"/>
            <a:ext cx="3750468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Plus Jakarta Sans"/>
              </a:rPr>
              <a:t>Thank You!</a:t>
            </a:r>
            <a:endParaRPr sz="42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28812" y="3281362"/>
            <a:ext cx="8334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Smart Classroom &amp; AI Timetable Generator provides an efficient, automated, and disruption-free learning environment for modern educational institutions.</a:t>
            </a:r>
            <a:endParaRPr sz="15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35023" y="4776787"/>
            <a:ext cx="432195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F8FAFC"/>
                </a:solidFill>
                <a:latin typeface="Plus Jakarta Sans"/>
              </a:rPr>
              <a:t>Designed &amp; Presented by Manikanta</a:t>
            </a:r>
            <a:r>
              <a:rPr lang="en-US" sz="1350" b="1" i="0" u="none" dirty="0">
                <a:solidFill>
                  <a:srgbClr val="F8FAFC"/>
                </a:solidFill>
                <a:latin typeface="Plus Jakarta Sans"/>
              </a:rPr>
              <a:t>,</a:t>
            </a:r>
            <a:r>
              <a:rPr sz="1350" b="1" i="0" u="none" dirty="0">
                <a:solidFill>
                  <a:srgbClr val="F8FAFC"/>
                </a:solidFill>
                <a:latin typeface="Plus Jakarta Sans"/>
              </a:rPr>
              <a:t> Vignesh &amp; Ram Charan</a:t>
            </a:r>
            <a:endParaRPr sz="1350" b="1" i="0" u="none" dirty="0">
              <a:solidFill>
                <a:srgbClr val="F8FAFC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5933</Words>
  <Application>WPS Presentation</Application>
  <PresentationFormat>Widescreen</PresentationFormat>
  <Paragraphs>256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Plus Jakarta Sans</vt:lpstr>
      <vt:lpstr>Segoe Print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Manikanta Chari</cp:lastModifiedBy>
  <cp:revision>5</cp:revision>
  <dcterms:created xsi:type="dcterms:W3CDTF">2013-01-27T09:14:00Z</dcterms:created>
  <dcterms:modified xsi:type="dcterms:W3CDTF">2026-10-16T08:01:57Z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3E96EEDEC3DF432DB2637161A907AC49_12</vt:lpwstr>
  </property>
  <property fmtid="{D5CDD505-2E9C-101B-9397-08002B2CF9AE}" pid="3" name="KSOProductBuildVer">
    <vt:lpwstr>1033-12.1.0.29162</vt:lpwstr>
  </property>
</Properties>
</file>