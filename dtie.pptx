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692384" cy="7555991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viewProps" Target="viewProps.xml"/><Relationship Id="rId4" Type="http://schemas.openxmlformats.org/officeDocument/2006/relationships/tableStyles" Target="tableStyles.xml"/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61950" y="361950"/>
            <a:ext cx="9972675" cy="6838950"/>
          </a:xfrm>
          <a:prstGeom prst="rect">
            <a:avLst/>
          </a:prstGeom>
          <a:solidFill>
            <a:srgbClr val="0B1E3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rect 4"/>
          <p:cNvSpPr/>
          <p:nvPr/>
        </p:nvSpPr>
        <p:spPr>
          <a:xfrm>
            <a:off x="465931" y="3937376"/>
            <a:ext cx="3015456" cy="2469232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62031" y="3933477"/>
          <a:ext cx="3023235" cy="2476500"/>
        </p:xfrm>
        <a:graphic>
          <a:graphicData uri="http://schemas.openxmlformats.org/drawingml/2006/table">
            <a:tbl>
              <a:tblPr/>
              <a:tblGrid>
                <a:gridCol w="3023235"/>
              </a:tblGrid>
              <a:tr h="261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220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  <a:r>
                        <a:rPr sz="8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</a:t>
                      </a:r>
                      <a:r>
                        <a:rPr sz="8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FEATURE</a:t>
                      </a:r>
                      <a:r>
                        <a:rPr sz="800" b="1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8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IMPLEMENTATION</a:t>
                      </a:r>
                      <a:r>
                        <a:rPr sz="8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8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</a:t>
                      </a:r>
                      <a:r>
                        <a:rPr sz="8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TACK</a:t>
                      </a:r>
                      <a:endParaRPr sz="8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D3B66"/>
                    </a:solidFill>
                  </a:tcPr>
                </a:tc>
              </a:tr>
              <a:tr h="2214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600" b="1" kern="0" spc="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Prioritized System</a:t>
                      </a:r>
                      <a:r>
                        <a:rPr sz="600" b="1" kern="0" spc="10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Modules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60732" y="1073067"/>
          <a:ext cx="9784080" cy="685800"/>
        </p:xfrm>
        <a:graphic>
          <a:graphicData uri="http://schemas.openxmlformats.org/drawingml/2006/table">
            <a:tbl>
              <a:tblPr/>
              <a:tblGrid>
                <a:gridCol w="6726555"/>
                <a:gridCol w="3057525"/>
              </a:tblGrid>
              <a:tr h="685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770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b="1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SMART</a:t>
                      </a:r>
                      <a:r>
                        <a:rPr sz="1300" kern="0" spc="2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 </a:t>
                      </a:r>
                      <a:r>
                        <a:rPr sz="1300" b="1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CLASSROOM</a:t>
                      </a:r>
                      <a:r>
                        <a:rPr sz="1300" kern="0" spc="2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 </a:t>
                      </a:r>
                      <a:r>
                        <a:rPr sz="1300" b="1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&amp;</a:t>
                      </a:r>
                      <a:r>
                        <a:rPr sz="13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 </a:t>
                      </a:r>
                      <a:r>
                        <a:rPr sz="1300" b="1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AI</a:t>
                      </a:r>
                      <a:r>
                        <a:rPr sz="1300" kern="0" spc="2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 </a:t>
                      </a:r>
                      <a:r>
                        <a:rPr sz="1300" b="1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TIMETABLE</a:t>
                      </a:r>
                      <a:r>
                        <a:rPr sz="1300" kern="0" spc="2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 </a:t>
                      </a:r>
                      <a:r>
                        <a:rPr sz="1300" b="1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 Black"/>
                          <a:ea typeface="Segoe UI Black"/>
                          <a:cs typeface="Segoe UI Black"/>
                        </a:rPr>
                        <a:t>GENERATOR</a:t>
                      </a:r>
                      <a:endParaRPr sz="1300" dirty="0">
                        <a:latin typeface="Segoe UI Black"/>
                        <a:ea typeface="Segoe UI Black"/>
                        <a:cs typeface="Segoe UI Black"/>
                      </a:endParaRPr>
                    </a:p>
                    <a:p>
                      <a:pPr marL="689610" algn="l" rtl="0" eaLnBrk="0">
                        <a:lnSpc>
                          <a:spcPct val="94000"/>
                        </a:lnSpc>
                        <a:spcBef>
                          <a:spcPts val="599"/>
                        </a:spcBef>
                        <a:tabLst/>
                      </a:pPr>
                      <a:r>
                        <a:rPr sz="800" b="1" kern="0" spc="8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Intelligent</a:t>
                      </a:r>
                      <a:r>
                        <a:rPr sz="800" b="1" kern="0" spc="17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800" b="1" kern="0" spc="8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IoT-Driven</a:t>
                      </a:r>
                      <a:r>
                        <a:rPr sz="800" b="1" kern="0" spc="18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800" b="1" kern="0" spc="8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Infrastructure</a:t>
                      </a:r>
                      <a:r>
                        <a:rPr sz="800" b="1" kern="0" spc="14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800" b="1" kern="0" spc="8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&amp; Automated</a:t>
                      </a:r>
                      <a:r>
                        <a:rPr sz="800" b="1" kern="0" spc="14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800" b="1" kern="0" spc="8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Scheduling</a:t>
                      </a:r>
                      <a:r>
                        <a:rPr sz="800" b="1" kern="0" spc="15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800" b="1" kern="0" spc="8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</a:t>
                      </a:r>
                      <a:r>
                        <a:rPr sz="800" b="1" kern="0" spc="7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ystem</a:t>
                      </a:r>
                      <a:endParaRPr sz="8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1990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2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AI Constraint</a:t>
                      </a:r>
                      <a:r>
                        <a:rPr sz="600" kern="0" spc="7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Engine</a:t>
                      </a:r>
                      <a:r>
                        <a:rPr sz="600" kern="0" spc="7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7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ESP32 Smart</a:t>
                      </a:r>
                      <a:r>
                        <a:rPr sz="600" kern="0" spc="8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Mesh</a:t>
                      </a:r>
                      <a:r>
                        <a:rPr sz="600" kern="0" spc="7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7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Real-Time Campus Synchron</a:t>
                      </a:r>
                      <a:r>
                        <a:rPr sz="600" kern="0" spc="10" dirty="0">
                          <a:solidFill>
                            <a:srgbClr val="D5DBDB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ization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F6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F6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1F6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6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6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3581469" y="3231696"/>
          <a:ext cx="3542665" cy="180086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542665"/>
              </a:tblGrid>
              <a:tr h="2686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322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890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5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Optimization</a:t>
                      </a:r>
                      <a:r>
                        <a:rPr sz="500" b="1" kern="0" spc="1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Formulation</a:t>
                      </a:r>
                      <a:r>
                        <a:rPr sz="500" b="1" kern="0" spc="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:  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min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∑ (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Transit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Cost</a:t>
                      </a:r>
                      <a:r>
                        <a:rPr sz="600" kern="0" spc="7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+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Fatigue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Penalty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)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subject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to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Hard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Constraints</a:t>
                      </a:r>
                      <a:r>
                        <a:rPr sz="600" kern="0" spc="7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=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0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462031" y="1828132"/>
          <a:ext cx="3023235" cy="203454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89255"/>
                <a:gridCol w="2633980"/>
              </a:tblGrid>
              <a:tr h="27241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68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97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Project O</a:t>
                      </a:r>
                      <a:r>
                        <a:rPr sz="700" b="1" kern="0" spc="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bjectives &amp;</a:t>
                      </a:r>
                      <a:r>
                        <a:rPr sz="700" b="1" kern="0" spc="6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700" b="1" kern="0" spc="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Problem Statement</a:t>
                      </a:r>
                      <a:endParaRPr sz="7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830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Manual Scheduling</a:t>
                      </a:r>
                      <a:r>
                        <a:rPr sz="600" b="1" kern="0" spc="1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Bottlenecks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33655" indent="3175" algn="l" rtl="0" eaLnBrk="0">
                        <a:lnSpc>
                          <a:spcPct val="96000"/>
                        </a:lnSpc>
                        <a:spcBef>
                          <a:spcPts val="158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Replaces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weeks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of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spreadsheet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planning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with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an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automated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solver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,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         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eradicating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human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calculation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errors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and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staff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timetable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conflicts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.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830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b="1" kern="0" spc="3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Room Overlap</a:t>
                      </a:r>
                      <a:r>
                        <a:rPr sz="6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 &amp;</a:t>
                      </a:r>
                      <a:r>
                        <a:rPr sz="600" b="1" kern="0" spc="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Overcrowding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33655" indent="3175" algn="l" rtl="0" eaLnBrk="0">
                        <a:lnSpc>
                          <a:spcPct val="96000"/>
                        </a:lnSpc>
                        <a:spcBef>
                          <a:spcPts val="157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Enforces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hard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constraints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based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on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room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capacity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departmental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zones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,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  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and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specialized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lab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equipment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availability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across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departments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.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b="1" kern="0" spc="3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Ambient</a:t>
                      </a:r>
                      <a:r>
                        <a:rPr sz="600" b="1" kern="0" spc="7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3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Ha</a:t>
                      </a:r>
                      <a:r>
                        <a:rPr sz="6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llway &amp; Corridor</a:t>
                      </a:r>
                      <a:r>
                        <a:rPr sz="600" b="1" kern="0" spc="6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Noise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35560" indent="1270" algn="l" rtl="0" eaLnBrk="0">
                        <a:lnSpc>
                          <a:spcPct val="106000"/>
                        </a:lnSpc>
                        <a:spcBef>
                          <a:spcPts val="14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Monitors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sound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decibel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levels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outside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active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lectures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to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maintain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an           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undisrupted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learning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environment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using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automated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threshold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alerts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.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Target Outcome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100%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Conflict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-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free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dynamic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campus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execution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&amp;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automated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control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.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 14"/>
          <p:cNvSpPr/>
          <p:nvPr/>
        </p:nvSpPr>
        <p:spPr>
          <a:xfrm>
            <a:off x="7224712" y="1832031"/>
            <a:ext cx="3015456" cy="176745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7220813" y="1828132"/>
          <a:ext cx="3023234" cy="1774825"/>
        </p:xfrm>
        <a:graphic>
          <a:graphicData uri="http://schemas.openxmlformats.org/drawingml/2006/table">
            <a:tbl>
              <a:tblPr/>
              <a:tblGrid>
                <a:gridCol w="3023235"/>
              </a:tblGrid>
              <a:tr h="261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6</a:t>
                      </a:r>
                      <a:r>
                        <a:rPr sz="8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</a:t>
                      </a:r>
                      <a:r>
                        <a:rPr sz="8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IOT</a:t>
                      </a:r>
                      <a:r>
                        <a:rPr sz="800" b="1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8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HARDWARE</a:t>
                      </a:r>
                      <a:r>
                        <a:rPr sz="800" b="1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8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PROTOTYPE</a:t>
                      </a:r>
                      <a:endParaRPr sz="8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D3B66"/>
                    </a:solidFill>
                  </a:tcPr>
                </a:tc>
              </a:tr>
              <a:tr h="15132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600" b="1" kern="0" spc="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ESP32</a:t>
                      </a:r>
                      <a:r>
                        <a:rPr sz="600" b="1" kern="0" spc="9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Edge</a:t>
                      </a:r>
                      <a:r>
                        <a:rPr sz="600" b="1" kern="0" spc="8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Microcontroller</a:t>
                      </a:r>
                      <a:r>
                        <a:rPr sz="600" b="1" kern="0" spc="8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Mesh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593308" y="4405230"/>
          <a:ext cx="2760344" cy="1821815"/>
        </p:xfrm>
        <a:graphic>
          <a:graphicData uri="http://schemas.openxmlformats.org/drawingml/2006/table">
            <a:tbl>
              <a:tblPr/>
              <a:tblGrid>
                <a:gridCol w="379730"/>
                <a:gridCol w="2380615"/>
              </a:tblGrid>
              <a:tr h="189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5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RI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F39C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18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</a:t>
                      </a:r>
                      <a:r>
                        <a:rPr sz="5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</a:t>
                      </a:r>
                      <a:r>
                        <a:rPr sz="5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DU</a:t>
                      </a:r>
                      <a:r>
                        <a:rPr sz="5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       </a:t>
                      </a:r>
                      <a:r>
                        <a:rPr sz="5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                           </a:t>
                      </a:r>
                      <a:r>
                        <a:rPr sz="5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</a:t>
                      </a:r>
                      <a:r>
                        <a:rPr sz="5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</a:t>
                      </a:r>
                      <a:r>
                        <a:rPr sz="5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F39C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18D"/>
                    </a:solidFill>
                  </a:tcPr>
                </a:tc>
              </a:tr>
              <a:tr h="4070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b="1" kern="0" spc="30" dirty="0">
                          <a:solidFill>
                            <a:srgbClr val="D3540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RANK</a:t>
                      </a:r>
                      <a:r>
                        <a:rPr sz="500" b="1" kern="0" spc="60" dirty="0">
                          <a:solidFill>
                            <a:srgbClr val="D3540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30" dirty="0">
                          <a:solidFill>
                            <a:srgbClr val="D3540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39C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F39C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9C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indent="-2540" algn="l" rtl="0" eaLnBrk="0">
                        <a:lnSpc>
                          <a:spcPct val="13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AI Schedule</a:t>
                      </a:r>
                      <a:r>
                        <a:rPr sz="500" b="1" kern="0" spc="6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Engine       </a:t>
                      </a:r>
                      <a:r>
                        <a:rPr sz="500" kern="0" spc="2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Eliminates clashes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&amp; double-booked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                    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Constraint</a:t>
                      </a:r>
                      <a:r>
                        <a:rPr sz="500" kern="0" spc="3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satisfaction</a:t>
                      </a:r>
                      <a:r>
                        <a:rPr sz="500" kern="0" spc="4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solvpe</a:t>
                      </a:r>
                      <a:r>
                        <a:rPr sz="500" b="1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ofessors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in</a:t>
                      </a:r>
                      <a:r>
                        <a:rPr sz="500" kern="0" spc="3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seco</a:t>
                      </a:r>
                      <a:r>
                        <a:rPr sz="500" kern="0" spc="-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nds.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F39C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39C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9C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4070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500" b="1" kern="0" spc="3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RANK</a:t>
                      </a:r>
                      <a:r>
                        <a:rPr sz="500" b="1" kern="0" spc="4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3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264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Restricts walk-ins during</a:t>
                      </a:r>
                      <a:r>
                        <a:rPr sz="500" kern="0" spc="3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ses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sions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836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6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&amp;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monitors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noise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breaches</a:t>
                      </a:r>
                      <a:r>
                        <a:rPr sz="500" kern="0" spc="6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.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00" b="1" kern="0" spc="3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RANK</a:t>
                      </a:r>
                      <a:r>
                        <a:rPr sz="500" b="1" kern="0" spc="4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3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9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Live Campus Sync      </a:t>
                      </a:r>
                      <a:r>
                        <a:rPr sz="500" b="1" kern="0" spc="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Instant timeline</a:t>
                      </a:r>
                      <a:r>
                        <a:rPr sz="500" kern="0" spc="4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updates and door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Mobile &amp; Web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Dashboard  isplay</a:t>
                      </a:r>
                      <a:r>
                        <a:rPr sz="500" kern="0" spc="4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status</a:t>
                      </a:r>
                      <a:r>
                        <a:rPr sz="500" kern="0" spc="3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change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s.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7675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Smart</a:t>
                      </a:r>
                      <a:r>
                        <a:rPr sz="500" b="1" kern="0" spc="6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Energy Saver      </a:t>
                      </a:r>
                      <a:r>
                        <a:rPr sz="500" kern="0" spc="2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Turn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 off lighting</a:t>
                      </a:r>
                      <a:r>
                        <a:rPr sz="500" kern="0" spc="3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and</a:t>
                      </a:r>
                      <a:r>
                        <a:rPr sz="500" kern="0" spc="2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fans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in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59689" algn="l" rtl="0" eaLnBrk="0">
                        <a:lnSpc>
                          <a:spcPts val="346"/>
                        </a:lnSpc>
                        <a:tabLst/>
                      </a:pPr>
                      <a:r>
                        <a:rPr sz="500" b="1" kern="0" spc="30" dirty="0">
                          <a:solidFill>
                            <a:srgbClr val="27AE6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RANK 4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445135" algn="l" rtl="0" eaLnBrk="0">
                        <a:lnSpc>
                          <a:spcPct val="8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Automated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Power Controlvlearcant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halls automati</a:t>
                      </a:r>
                      <a:r>
                        <a:rPr sz="500" kern="0" spc="-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cally.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20556" y="5612400"/>
            <a:ext cx="37724" cy="51452"/>
          </a:xfrm>
          <a:prstGeom prst="rect">
            <a:avLst/>
          </a:prstGeom>
        </p:spPr>
      </p:pic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3581469" y="1828132"/>
          <a:ext cx="3542665" cy="133286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1186180"/>
                <a:gridCol w="1080770"/>
                <a:gridCol w="1275715"/>
              </a:tblGrid>
              <a:tr h="26670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661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3581469" y="5103114"/>
          <a:ext cx="3542665" cy="130683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31470"/>
                <a:gridCol w="3211195"/>
              </a:tblGrid>
              <a:tr h="2921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147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Upload</a:t>
                      </a:r>
                      <a:r>
                        <a:rPr sz="600" b="1" kern="0" spc="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Campus</a:t>
                      </a:r>
                      <a:r>
                        <a:rPr sz="600" b="1" kern="0" spc="3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Specs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36830" algn="l" rtl="0" eaLnBrk="0">
                        <a:lnSpc>
                          <a:spcPct val="85000"/>
                        </a:lnSpc>
                        <a:spcBef>
                          <a:spcPts val="125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Admins</a:t>
                      </a:r>
                      <a:r>
                        <a:rPr sz="600" kern="0" spc="10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upload teacher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rules,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room specs, and curricula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into cloud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DB.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41910" algn="l" rtl="0" eaLnBrk="0">
                        <a:lnSpc>
                          <a:spcPct val="76000"/>
                        </a:lnSpc>
                        <a:spcBef>
                          <a:spcPts val="490"/>
                        </a:spcBef>
                        <a:tabLst/>
                      </a:pP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Execute</a:t>
                      </a:r>
                      <a:r>
                        <a:rPr sz="600" b="1" kern="0" spc="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Constraint</a:t>
                      </a:r>
                      <a:r>
                        <a:rPr sz="600" b="1" kern="0" spc="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Solver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36830" algn="l" rtl="0" eaLnBrk="0">
                        <a:lnSpc>
                          <a:spcPct val="86000"/>
                        </a:lnSpc>
                        <a:spcBef>
                          <a:spcPts val="192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AI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tests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combinations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generating</a:t>
                      </a:r>
                      <a:r>
                        <a:rPr sz="600" kern="0" spc="1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master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schedules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in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seconds</a:t>
                      </a:r>
                      <a:r>
                        <a:rPr sz="600" kern="0" spc="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.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41910" algn="l" rtl="0" eaLnBrk="0">
                        <a:lnSpc>
                          <a:spcPct val="86000"/>
                        </a:lnSpc>
                        <a:spcBef>
                          <a:spcPts val="485"/>
                        </a:spcBef>
                        <a:tabLst/>
                      </a:pP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Deploy</a:t>
                      </a:r>
                      <a:r>
                        <a:rPr sz="600" b="1" kern="0" spc="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Campus</a:t>
                      </a:r>
                      <a:r>
                        <a:rPr sz="600" b="1" kern="0" spc="5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Broadcast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37465" algn="l" rtl="0" eaLnBrk="0">
                        <a:lnSpc>
                          <a:spcPct val="85000"/>
                        </a:lnSpc>
                        <a:spcBef>
                          <a:spcPts val="119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Transmits schedules to</a:t>
                      </a:r>
                      <a:r>
                        <a:rPr sz="600" kern="0" spc="1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mobile apps, web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portals, and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door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OLEDs.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41910" algn="l" rtl="0" eaLnBrk="0">
                        <a:lnSpc>
                          <a:spcPct val="76000"/>
                        </a:lnSpc>
                        <a:spcBef>
                          <a:spcPts val="490"/>
                        </a:spcBef>
                        <a:tabLst/>
                      </a:pP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Hardware</a:t>
                      </a:r>
                      <a:r>
                        <a:rPr sz="6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-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Driven</a:t>
                      </a:r>
                      <a:r>
                        <a:rPr sz="6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Control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18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Locks doors during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lectures, detects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noise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breaches, and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dims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idle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rooms.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7220813" y="3699550"/>
          <a:ext cx="3023234" cy="13589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1511935"/>
                <a:gridCol w="1288415"/>
                <a:gridCol w="222884"/>
              </a:tblGrid>
              <a:tr h="27940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91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829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170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00" b="1" kern="0" spc="3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Live Synchronized</a:t>
                      </a:r>
                      <a:r>
                        <a:rPr sz="500" b="1" kern="0" spc="4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3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Stat</a:t>
                      </a:r>
                      <a:r>
                        <a:rPr sz="500" b="1" kern="0" spc="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us: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Updated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instantly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across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MQTT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when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schedule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or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noise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alerts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change</a:t>
                      </a:r>
                      <a:r>
                        <a:rPr sz="600" kern="0" spc="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.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8"/>
          <p:cNvGraphicFramePr>
            <a:graphicFrameLocks noGrp="1"/>
          </p:cNvGraphicFramePr>
          <p:nvPr/>
        </p:nvGraphicFramePr>
        <p:xfrm>
          <a:off x="7220813" y="5155097"/>
          <a:ext cx="3023234" cy="125539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023235"/>
              </a:tblGrid>
              <a:tr h="280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74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3689349" y="3547498"/>
          <a:ext cx="3327400" cy="1127760"/>
        </p:xfrm>
        <a:graphic>
          <a:graphicData uri="http://schemas.openxmlformats.org/drawingml/2006/table">
            <a:tbl>
              <a:tblPr/>
              <a:tblGrid>
                <a:gridCol w="500380"/>
                <a:gridCol w="927735"/>
                <a:gridCol w="1007745"/>
                <a:gridCol w="891540"/>
              </a:tblGrid>
              <a:tr h="166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995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ARAM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618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859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</a:t>
                      </a:r>
                      <a:r>
                        <a:rPr sz="5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</a:t>
                      </a:r>
                      <a:r>
                        <a:rPr sz="5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U</a:t>
                      </a:r>
                      <a:r>
                        <a:rPr sz="5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</a:t>
                      </a:r>
                      <a:r>
                        <a:rPr sz="5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DO</a:t>
                      </a:r>
                      <a:r>
                        <a:rPr sz="5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</a:t>
                      </a:r>
                      <a:r>
                        <a:rPr sz="5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AIN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618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9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HARD</a:t>
                      </a:r>
                      <a:r>
                        <a:rPr sz="5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            </a:t>
                      </a:r>
                      <a:r>
                        <a:rPr sz="5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ON</a:t>
                      </a:r>
                      <a:r>
                        <a:rPr sz="5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</a:t>
                      </a:r>
                      <a:r>
                        <a:rPr sz="5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RAI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618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475" algn="l" rtl="0" eaLnBrk="0">
                        <a:lnSpc>
                          <a:spcPct val="7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</a:t>
                      </a:r>
                      <a:r>
                        <a:rPr sz="5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    </a:t>
                      </a:r>
                      <a:r>
                        <a:rPr sz="5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</a:t>
                      </a:r>
                      <a:r>
                        <a:rPr sz="5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</a:t>
                      </a:r>
                      <a:r>
                        <a:rPr sz="5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</a:t>
                      </a:r>
                      <a:r>
                        <a:rPr sz="5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              </a:t>
                      </a:r>
                      <a:r>
                        <a:rPr sz="5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618D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Faculty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46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Teaching</a:t>
                      </a:r>
                      <a:r>
                        <a:rPr sz="500" kern="0" spc="4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hour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s/limits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Zero simultaneous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overlaps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029" algn="l" rtl="0" eaLnBrk="0">
                        <a:lnSpc>
                          <a:spcPct val="8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b="1" kern="0" spc="10" dirty="0">
                          <a:solidFill>
                            <a:srgbClr val="27AE6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Zero</a:t>
                      </a:r>
                      <a:r>
                        <a:rPr sz="500" b="1" kern="0" spc="100" dirty="0">
                          <a:solidFill>
                            <a:srgbClr val="27AE6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10" dirty="0">
                          <a:solidFill>
                            <a:srgbClr val="27AE6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Double-Booking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b="1" kern="0" spc="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Classroom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5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Capacity &amp;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Projec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tor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Batch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size</a:t>
                      </a:r>
                      <a:r>
                        <a:rPr sz="500" kern="0" spc="8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≤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Room</a:t>
                      </a:r>
                      <a:r>
                        <a:rPr sz="500" kern="0" spc="6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limit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4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500" b="1" kern="0" spc="10" dirty="0">
                          <a:solidFill>
                            <a:srgbClr val="27AE6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No</a:t>
                      </a:r>
                      <a:r>
                        <a:rPr sz="500" b="1" kern="0" spc="50" dirty="0">
                          <a:solidFill>
                            <a:srgbClr val="27AE6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10" dirty="0">
                          <a:solidFill>
                            <a:srgbClr val="27AE6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Room Overflow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70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b="1" kern="0" spc="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Workload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4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Max classes/da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y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Mandatory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re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st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periods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4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b="1" kern="0" spc="1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Fatigue</a:t>
                      </a:r>
                      <a:r>
                        <a:rPr sz="500" b="1" kern="0" spc="4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b="1" kern="0" spc="1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Preve</a:t>
                      </a:r>
                      <a:r>
                        <a:rPr sz="500" b="1" kern="0" spc="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ntion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" algn="l" rtl="0" eaLnBrk="0">
                        <a:lnSpc>
                          <a:spcPct val="7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5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Location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40" algn="l" rtl="0" eaLnBrk="0">
                        <a:lnSpc>
                          <a:spcPct val="7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Department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block zo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nes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7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Block transit</a:t>
                      </a:r>
                      <a:r>
                        <a:rPr sz="500" kern="0" spc="8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&lt;</a:t>
                      </a:r>
                      <a:r>
                        <a:rPr sz="500" kern="0" spc="7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10</a:t>
                      </a:r>
                      <a:r>
                        <a:rPr sz="500" kern="0" spc="5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500" kern="0" spc="0" dirty="0">
                          <a:solidFill>
                            <a:srgbClr val="34495E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mins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40" algn="l" rtl="0" eaLnBrk="0">
                        <a:lnSpc>
                          <a:spcPct val="7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b="1" kern="0" spc="10" dirty="0">
                          <a:solidFill>
                            <a:srgbClr val="2980B9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Localized Timetables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7350790" y="2269994"/>
          <a:ext cx="2762884" cy="1229359"/>
        </p:xfrm>
        <a:graphic>
          <a:graphicData uri="http://schemas.openxmlformats.org/drawingml/2006/table">
            <a:tbl>
              <a:tblPr/>
              <a:tblGrid>
                <a:gridCol w="2762884"/>
              </a:tblGrid>
              <a:tr h="12198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" name="group 2"/>
          <p:cNvGrpSpPr/>
          <p:nvPr/>
        </p:nvGrpSpPr>
        <p:grpSpPr>
          <a:xfrm rot="21600000">
            <a:off x="7354689" y="2273893"/>
            <a:ext cx="2755503" cy="1221620"/>
            <a:chOff x="0" y="0"/>
            <a:chExt cx="2755503" cy="1221620"/>
          </a:xfrm>
        </p:grpSpPr>
        <p:pic>
          <p:nvPicPr>
            <p:cNvPr id="34" name="pictur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755503" cy="1221620"/>
            </a:xfrm>
            <a:prstGeom prst="rect">
              <a:avLst/>
            </a:prstGeom>
          </p:spPr>
        </p:pic>
        <p:sp>
          <p:nvSpPr>
            <p:cNvPr id="36" name="textbox 36"/>
            <p:cNvSpPr/>
            <p:nvPr/>
          </p:nvSpPr>
          <p:spPr>
            <a:xfrm>
              <a:off x="175007" y="195162"/>
              <a:ext cx="481965" cy="4889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5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510" algn="l" rtl="0" eaLnBrk="0">
                <a:lnSpc>
                  <a:spcPct val="78000"/>
                </a:lnSpc>
                <a:tabLst/>
              </a:pPr>
              <a:r>
                <a:rPr sz="400" kern="0" spc="2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ou</a:t>
              </a:r>
              <a:r>
                <a:rPr sz="400" kern="0" spc="4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 </a:t>
              </a:r>
              <a:r>
                <a:rPr sz="400" kern="0" spc="2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d</a:t>
              </a:r>
              <a:r>
                <a:rPr sz="400" kern="0" spc="1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        </a:t>
              </a:r>
              <a:r>
                <a:rPr sz="400" kern="0" spc="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         </a:t>
              </a:r>
              <a:r>
                <a:rPr sz="400" kern="0" spc="2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B</a:t>
              </a:r>
              <a:endParaRPr sz="400" dirty="0">
                <a:latin typeface="Segoe UI"/>
                <a:ea typeface="Segoe UI"/>
                <a:cs typeface="Segoe UI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4000"/>
                </a:lnSpc>
                <a:tabLst/>
              </a:pPr>
              <a:r>
                <a:rPr sz="400" kern="0" spc="3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RFID</a:t>
              </a:r>
              <a:endParaRPr sz="400" dirty="0"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176434" y="1045588"/>
              <a:ext cx="2580640" cy="1054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3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600" kern="0" spc="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Monitors</a:t>
              </a:r>
              <a:r>
                <a:rPr sz="600" kern="0" spc="5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600" kern="0" spc="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hallway chatter</a:t>
              </a:r>
              <a:r>
                <a:rPr sz="600" kern="0" spc="9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600" kern="0" spc="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&gt; 65dB</a:t>
              </a:r>
              <a:r>
                <a:rPr sz="600" kern="0" spc="5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600" kern="0" spc="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•</a:t>
              </a:r>
              <a:r>
                <a:rPr sz="600" kern="0" spc="6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600" kern="0" spc="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Enforces</a:t>
              </a:r>
              <a:r>
                <a:rPr sz="600" kern="0" spc="5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600" kern="0" spc="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punctuality via automa</a:t>
              </a:r>
              <a:r>
                <a:rPr sz="600" kern="0" spc="-1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ted</a:t>
              </a:r>
              <a:r>
                <a:rPr sz="600" kern="0" spc="5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600" kern="0" spc="-10" dirty="0">
                  <a:solidFill>
                    <a:srgbClr val="2C3E50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lock</a:t>
              </a:r>
              <a:endParaRPr sz="600" dirty="0"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40" name="textbox 40"/>
            <p:cNvSpPr/>
            <p:nvPr/>
          </p:nvSpPr>
          <p:spPr>
            <a:xfrm>
              <a:off x="1079864" y="344139"/>
              <a:ext cx="549275" cy="1892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27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87325" algn="l" rtl="0" eaLnBrk="0">
                <a:lnSpc>
                  <a:spcPct val="72000"/>
                </a:lnSpc>
                <a:tabLst/>
              </a:pPr>
              <a:r>
                <a:rPr sz="600" b="1" kern="0" spc="-2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P</a:t>
              </a:r>
              <a:r>
                <a:rPr sz="600" b="1" kern="0" spc="3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    </a:t>
              </a:r>
              <a:r>
                <a:rPr sz="600" b="1" kern="0" spc="-2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M</a:t>
              </a:r>
              <a:endParaRPr sz="600" dirty="0">
                <a:latin typeface="Segoe UI"/>
                <a:ea typeface="Segoe UI"/>
                <a:cs typeface="Segoe U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7000"/>
                </a:lnSpc>
                <a:tabLst/>
              </a:pPr>
              <a:r>
                <a:rPr sz="400" kern="0" spc="30" dirty="0">
                  <a:solidFill>
                    <a:srgbClr val="1ABC9C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Wi-Fi</a:t>
              </a:r>
              <a:r>
                <a:rPr sz="400" kern="0" spc="110" dirty="0">
                  <a:solidFill>
                    <a:srgbClr val="1ABC9C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400" kern="0" spc="30" dirty="0">
                  <a:solidFill>
                    <a:srgbClr val="1ABC9C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+</a:t>
              </a:r>
              <a:r>
                <a:rPr sz="400" kern="0" spc="70" dirty="0">
                  <a:solidFill>
                    <a:srgbClr val="1ABC9C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400" kern="0" spc="30" dirty="0">
                  <a:solidFill>
                    <a:srgbClr val="1ABC9C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BLE</a:t>
              </a:r>
              <a:r>
                <a:rPr sz="400" kern="0" spc="70" dirty="0">
                  <a:solidFill>
                    <a:srgbClr val="1ABC9C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400" kern="0" spc="30" dirty="0">
                  <a:solidFill>
                    <a:srgbClr val="1ABC9C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Master</a:t>
              </a:r>
              <a:endParaRPr sz="400" dirty="0"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42" name="textbox 42"/>
            <p:cNvSpPr/>
            <p:nvPr/>
          </p:nvSpPr>
          <p:spPr>
            <a:xfrm>
              <a:off x="2232617" y="197720"/>
              <a:ext cx="195580" cy="4864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62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4000"/>
                </a:lnSpc>
                <a:tabLst/>
              </a:pPr>
              <a:r>
                <a:rPr sz="400" kern="0" spc="1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D</a:t>
              </a:r>
              <a:r>
                <a:rPr sz="400" kern="0" spc="7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sz="400" kern="0" spc="1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D</a:t>
              </a:r>
              <a:endParaRPr sz="400" dirty="0">
                <a:latin typeface="Segoe UI"/>
                <a:ea typeface="Segoe UI"/>
                <a:cs typeface="Segoe UI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9530" algn="l" rtl="0" eaLnBrk="0">
                <a:lnSpc>
                  <a:spcPct val="74000"/>
                </a:lnSpc>
                <a:spcBef>
                  <a:spcPts val="1"/>
                </a:spcBef>
                <a:tabLst/>
              </a:pPr>
              <a:r>
                <a:rPr sz="400" kern="0" spc="30" dirty="0">
                  <a:solidFill>
                    <a:srgbClr val="FFFFFF">
                      <a:alpha val="100000"/>
                    </a:srgbClr>
                  </a:solidFill>
                  <a:latin typeface="Segoe UI"/>
                  <a:ea typeface="Segoe UI"/>
                  <a:cs typeface="Segoe UI"/>
                </a:rPr>
                <a:t>Door</a:t>
              </a:r>
              <a:endParaRPr sz="400" dirty="0">
                <a:latin typeface="Segoe UI"/>
                <a:ea typeface="Segoe UI"/>
                <a:cs typeface="Segoe UI"/>
              </a:endParaRPr>
            </a:p>
          </p:txBody>
        </p:sp>
      </p:grpSp>
      <p:sp>
        <p:nvSpPr>
          <p:cNvPr id="44" name="rect 44"/>
          <p:cNvSpPr/>
          <p:nvPr/>
        </p:nvSpPr>
        <p:spPr>
          <a:xfrm>
            <a:off x="7326094" y="5494292"/>
            <a:ext cx="863045" cy="784955"/>
          </a:xfrm>
          <a:prstGeom prst="rect">
            <a:avLst/>
          </a:prstGeom>
          <a:solidFill>
            <a:srgbClr val="EAFA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rect 46"/>
          <p:cNvSpPr/>
          <p:nvPr/>
        </p:nvSpPr>
        <p:spPr>
          <a:xfrm>
            <a:off x="8287920" y="5494292"/>
            <a:ext cx="863045" cy="784955"/>
          </a:xfrm>
          <a:prstGeom prst="rect">
            <a:avLst/>
          </a:prstGeom>
          <a:solidFill>
            <a:srgbClr val="EBF5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" name="rect 48"/>
          <p:cNvSpPr/>
          <p:nvPr/>
        </p:nvSpPr>
        <p:spPr>
          <a:xfrm>
            <a:off x="9249747" y="5494292"/>
            <a:ext cx="863045" cy="784955"/>
          </a:xfrm>
          <a:prstGeom prst="rect">
            <a:avLst/>
          </a:prstGeom>
          <a:solidFill>
            <a:srgbClr val="FEF5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7313394" y="5580702"/>
            <a:ext cx="2879090" cy="576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9060" algn="l" rtl="0" eaLnBrk="0">
              <a:lnSpc>
                <a:spcPct val="87000"/>
              </a:lnSpc>
              <a:tabLst/>
            </a:pPr>
            <a:r>
              <a:rPr sz="600" b="1" kern="0" spc="0" dirty="0">
                <a:solidFill>
                  <a:srgbClr val="27AE6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Efficiency                             </a:t>
            </a:r>
            <a:r>
              <a:rPr sz="600" b="1" kern="0" spc="0" dirty="0">
                <a:solidFill>
                  <a:srgbClr val="2980B9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Conflict-Free                        </a:t>
            </a:r>
            <a:r>
              <a:rPr sz="600" b="1" kern="0" spc="0" dirty="0">
                <a:solidFill>
                  <a:srgbClr val="D3540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Eco Savings</a:t>
            </a:r>
            <a:endParaRPr sz="600" dirty="0">
              <a:latin typeface="Segoe UI"/>
              <a:ea typeface="Segoe UI"/>
              <a:cs typeface="Segoe UI"/>
            </a:endParaRPr>
          </a:p>
          <a:p>
            <a:pPr marL="97155" algn="l" rtl="0" eaLnBrk="0">
              <a:lnSpc>
                <a:spcPct val="71000"/>
              </a:lnSpc>
              <a:spcBef>
                <a:spcPts val="398"/>
              </a:spcBef>
              <a:tabLst/>
            </a:pPr>
            <a:r>
              <a:rPr sz="800" b="1" kern="0" spc="7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98%</a:t>
            </a:r>
            <a:r>
              <a:rPr sz="800" b="1" kern="0" spc="9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Faster</a:t>
            </a:r>
            <a:r>
              <a:rPr sz="800" b="1" kern="0" spc="7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      </a:t>
            </a:r>
            <a:r>
              <a:rPr sz="800" b="1" kern="0" spc="6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0 </a:t>
            </a:r>
            <a:r>
              <a:rPr sz="800" b="1" kern="0" spc="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Clashes</a:t>
            </a:r>
            <a:r>
              <a:rPr sz="800" b="1" kern="0" spc="1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            </a:t>
            </a:r>
            <a:r>
              <a:rPr sz="800" b="1" kern="0" spc="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6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-25%</a:t>
            </a:r>
            <a:r>
              <a:rPr sz="800" b="1" kern="0" spc="10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Power</a:t>
            </a:r>
            <a:endParaRPr sz="800" dirty="0">
              <a:latin typeface="Segoe UI"/>
              <a:ea typeface="Segoe UI"/>
              <a:cs typeface="Segoe U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77"/>
              </a:lnSpc>
              <a:tabLst>
                <a:tab pos="97155" algn="l"/>
              </a:tabLst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	</a:t>
            </a:r>
            <a:r>
              <a:rPr sz="500" kern="0" spc="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            </a:t>
            </a:r>
            <a:r>
              <a:rPr sz="700" kern="0" spc="0" baseline="-28535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</a:t>
            </a:r>
            <a:r>
              <a:rPr sz="700" kern="0" spc="0" baseline="179817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l</a:t>
            </a:r>
            <a:r>
              <a:rPr sz="4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                      </a:t>
            </a:r>
            <a:r>
              <a:rPr sz="700" kern="0" spc="0" baseline="179817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r>
              <a:rPr sz="4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</a:t>
            </a:r>
            <a:r>
              <a:rPr sz="700" kern="0" spc="0" baseline="-28535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ffort.</a:t>
            </a:r>
            <a:r>
              <a:rPr sz="4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       </a:t>
            </a: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                 d          </a:t>
            </a:r>
            <a:r>
              <a:rPr sz="700" kern="0" spc="0" baseline="-28535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</a:t>
            </a:r>
            <a:r>
              <a:rPr sz="4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4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700" kern="0" spc="-10" baseline="-28535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g</a:t>
            </a:r>
            <a:r>
              <a:rPr sz="4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</a:t>
            </a:r>
            <a:r>
              <a:rPr sz="700" kern="0" spc="-10" baseline="179817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</a:t>
            </a: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     </a:t>
            </a:r>
            <a:r>
              <a:rPr sz="700" kern="0" spc="-10" baseline="179817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r>
              <a:rPr sz="4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                           </a:t>
            </a:r>
            <a:r>
              <a:rPr sz="700" kern="0" spc="-10" baseline="-28535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</a:t>
            </a:r>
            <a:r>
              <a:rPr sz="4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      </a:t>
            </a:r>
            <a:r>
              <a:rPr sz="700" kern="0" spc="-10" baseline="-28535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l</a:t>
            </a:r>
            <a:r>
              <a:rPr sz="4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 </a:t>
            </a: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                 </a:t>
            </a:r>
            <a:r>
              <a:rPr sz="700" kern="0" spc="-10" baseline="-28535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lls.</a:t>
            </a:r>
            <a:endParaRPr sz="700" baseline="-28535" dirty="0">
              <a:latin typeface="Segoe UI"/>
              <a:ea typeface="Segoe UI"/>
              <a:cs typeface="Segoe U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0042937" y="6072547"/>
            <a:ext cx="6159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0067727" y="5866641"/>
            <a:ext cx="49530" cy="115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8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0001726" y="6054551"/>
            <a:ext cx="63500" cy="85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h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0023784" y="5885494"/>
            <a:ext cx="6794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9936989" y="6072547"/>
            <a:ext cx="62864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9940551" y="5979094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9968581" y="5866641"/>
            <a:ext cx="49530" cy="115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8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9912550" y="6072858"/>
            <a:ext cx="46355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6"/>
              </a:lnSpc>
              <a:tabLst/>
            </a:pPr>
            <a:r>
              <a:rPr sz="5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r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9920824" y="5961800"/>
            <a:ext cx="39370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9944143" y="5866641"/>
            <a:ext cx="49530" cy="115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8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9837380" y="6061796"/>
            <a:ext cx="94615" cy="78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57000"/>
              </a:lnSpc>
              <a:tabLst/>
            </a:pPr>
            <a:r>
              <a:rPr sz="6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tu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9851808" y="5979094"/>
            <a:ext cx="67945" cy="8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0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g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9868973" y="5874743"/>
            <a:ext cx="95885" cy="78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57000"/>
              </a:lnSpc>
              <a:tabLst/>
            </a:pPr>
            <a:r>
              <a:rPr sz="6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to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9803416" y="6072547"/>
            <a:ext cx="5778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c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9810364" y="5979094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835008" y="5886507"/>
            <a:ext cx="64135" cy="66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3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u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9762671" y="6072547"/>
            <a:ext cx="62864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9760417" y="5968344"/>
            <a:ext cx="50165" cy="104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17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t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9783395" y="5867498"/>
            <a:ext cx="63500" cy="85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h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9720999" y="5961099"/>
            <a:ext cx="63500" cy="85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h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9740638" y="5885494"/>
            <a:ext cx="5461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2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9676577" y="6054551"/>
            <a:ext cx="6794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9672468" y="5979094"/>
            <a:ext cx="67945" cy="8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0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g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9681189" y="5867498"/>
            <a:ext cx="6794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40443" y="5898194"/>
            <a:ext cx="52037" cy="228419"/>
          </a:xfrm>
          <a:prstGeom prst="rect">
            <a:avLst/>
          </a:prstGeom>
        </p:spPr>
      </p:pic>
      <p:sp>
        <p:nvSpPr>
          <p:cNvPr id="102" name="textbox 102"/>
          <p:cNvSpPr/>
          <p:nvPr/>
        </p:nvSpPr>
        <p:spPr>
          <a:xfrm>
            <a:off x="9573806" y="6072547"/>
            <a:ext cx="65405" cy="86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p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9567504" y="5961099"/>
            <a:ext cx="6794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9589925" y="5874743"/>
            <a:ext cx="88265" cy="78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57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at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9491073" y="6072547"/>
            <a:ext cx="102235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cu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9483536" y="5979094"/>
            <a:ext cx="106045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an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9518935" y="5885494"/>
            <a:ext cx="86360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6"/>
              </a:lnSpc>
              <a:tabLst/>
            </a:pPr>
            <a:r>
              <a:rPr sz="600" kern="0" spc="-5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m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9409431" y="6072547"/>
            <a:ext cx="103504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oc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9429678" y="5979094"/>
            <a:ext cx="5461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2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9444830" y="5874743"/>
            <a:ext cx="95885" cy="78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57000"/>
              </a:lnSpc>
              <a:tabLst/>
            </a:pPr>
            <a:r>
              <a:rPr sz="6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to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367988" y="6072547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9387923" y="5979094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9403387" y="5886507"/>
            <a:ext cx="64135" cy="66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3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u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9323037" y="6073559"/>
            <a:ext cx="64135" cy="66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3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u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9319609" y="5960242"/>
            <a:ext cx="87630" cy="8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6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fa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9353840" y="5870692"/>
            <a:ext cx="74930" cy="92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2000"/>
              </a:lnSpc>
              <a:tabLst/>
            </a:pPr>
            <a:r>
              <a:rPr sz="6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9122648" y="5979094"/>
            <a:ext cx="67945" cy="8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0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g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9185839" y="5867498"/>
            <a:ext cx="58420" cy="85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k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9081204" y="5979094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9144395" y="5885494"/>
            <a:ext cx="6794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9011833" y="6072547"/>
            <a:ext cx="5461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2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9016529" y="5979094"/>
            <a:ext cx="65405" cy="8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59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p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9046876" y="5867498"/>
            <a:ext cx="65405" cy="85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b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8970724" y="5979094"/>
            <a:ext cx="65405" cy="86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p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9014861" y="5901542"/>
            <a:ext cx="51435" cy="48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2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-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8924196" y="6072547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8928199" y="5979094"/>
            <a:ext cx="6159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8970721" y="5885494"/>
            <a:ext cx="62864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58394" y="5880198"/>
            <a:ext cx="12886" cy="152106"/>
          </a:xfrm>
          <a:prstGeom prst="rect">
            <a:avLst/>
          </a:prstGeom>
        </p:spPr>
      </p:pic>
      <p:sp>
        <p:nvSpPr>
          <p:cNvPr id="158" name="textbox 158"/>
          <p:cNvSpPr/>
          <p:nvPr/>
        </p:nvSpPr>
        <p:spPr>
          <a:xfrm>
            <a:off x="8866451" y="6054551"/>
            <a:ext cx="58420" cy="85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k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8885124" y="5979406"/>
            <a:ext cx="46355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6"/>
              </a:lnSpc>
              <a:tabLst/>
            </a:pPr>
            <a:r>
              <a:rPr sz="5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r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8907863" y="5867498"/>
            <a:ext cx="65405" cy="85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b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8818222" y="6072547"/>
            <a:ext cx="6794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8801219" y="5979094"/>
            <a:ext cx="103504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ve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8843018" y="5886507"/>
            <a:ext cx="64135" cy="66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3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u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8772642" y="6072547"/>
            <a:ext cx="6794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8758755" y="5979094"/>
            <a:ext cx="6794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8800554" y="5885494"/>
            <a:ext cx="6794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8729487" y="6054551"/>
            <a:ext cx="65405" cy="85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b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8769586" y="5867498"/>
            <a:ext cx="6794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8640887" y="6072547"/>
            <a:ext cx="86360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6"/>
              </a:lnSpc>
              <a:tabLst/>
            </a:pPr>
            <a:r>
              <a:rPr sz="600" kern="0" spc="-5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m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8650088" y="5979094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8653485" y="5885494"/>
            <a:ext cx="95885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es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8592658" y="6072547"/>
            <a:ext cx="6794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8607564" y="5979094"/>
            <a:ext cx="6159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8613504" y="5874743"/>
            <a:ext cx="50165" cy="104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17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t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8522640" y="6072547"/>
            <a:ext cx="92075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ro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8520324" y="5968344"/>
            <a:ext cx="8826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6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ty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8541170" y="5885494"/>
            <a:ext cx="102870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na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8487242" y="6072547"/>
            <a:ext cx="5461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2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8506129" y="5961099"/>
            <a:ext cx="38100" cy="114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l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8508088" y="5868199"/>
            <a:ext cx="39370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8413995" y="6072547"/>
            <a:ext cx="95250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as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8423397" y="5979094"/>
            <a:ext cx="102235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cu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8434841" y="5868199"/>
            <a:ext cx="106045" cy="8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3000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im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8398008" y="6054551"/>
            <a:ext cx="38100" cy="114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l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8418854" y="5867498"/>
            <a:ext cx="38100" cy="114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l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8359369" y="6072547"/>
            <a:ext cx="5778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c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8357732" y="5960242"/>
            <a:ext cx="49530" cy="115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8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8363077" y="5870692"/>
            <a:ext cx="57785" cy="81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4000"/>
              </a:lnSpc>
              <a:tabLst/>
            </a:pPr>
            <a:r>
              <a:rPr sz="5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8058087" y="6072547"/>
            <a:ext cx="62864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8092786" y="5867498"/>
            <a:ext cx="6794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8020524" y="6054551"/>
            <a:ext cx="38100" cy="84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60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l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7999392" y="5979094"/>
            <a:ext cx="5461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2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8046854" y="5874743"/>
            <a:ext cx="50165" cy="104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17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t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7935932" y="6072547"/>
            <a:ext cx="104140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ua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7958643" y="5980108"/>
            <a:ext cx="62230" cy="87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88"/>
              </a:lnSpc>
              <a:tabLst/>
            </a:pPr>
            <a:r>
              <a:rPr sz="8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v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7983394" y="5885494"/>
            <a:ext cx="86360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ra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7892696" y="6072547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7907667" y="5979094"/>
            <a:ext cx="5461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2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7940158" y="5885494"/>
            <a:ext cx="62864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7850171" y="6072547"/>
            <a:ext cx="6159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7861475" y="5961099"/>
            <a:ext cx="6794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7897633" y="5885494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7785944" y="6072547"/>
            <a:ext cx="86360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6"/>
              </a:lnSpc>
              <a:tabLst/>
            </a:pPr>
            <a:r>
              <a:rPr sz="600" kern="0" spc="-5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m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7771728" y="5979094"/>
            <a:ext cx="111760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on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7811316" y="5885494"/>
            <a:ext cx="108585" cy="84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4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ge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7735856" y="6053694"/>
            <a:ext cx="49530" cy="115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8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7783201" y="5979094"/>
            <a:ext cx="5778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c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7691912" y="6072547"/>
            <a:ext cx="6794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3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7662245" y="5979094"/>
            <a:ext cx="95250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7709707" y="5885494"/>
            <a:ext cx="95885" cy="67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45000"/>
              </a:lnSpc>
              <a:tabLst/>
            </a:pPr>
            <a:r>
              <a:rPr sz="600" kern="0" spc="-2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es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7601430" y="6054551"/>
            <a:ext cx="58420" cy="85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k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7598201" y="5963280"/>
            <a:ext cx="64135" cy="92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0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7649255" y="5886507"/>
            <a:ext cx="64135" cy="66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3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u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7558035" y="6072547"/>
            <a:ext cx="62864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7557603" y="5963280"/>
            <a:ext cx="62864" cy="8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500" kern="0" spc="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3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7608656" y="5867498"/>
            <a:ext cx="6794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7517290" y="6072547"/>
            <a:ext cx="62864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7568343" y="5885494"/>
            <a:ext cx="62864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pic>
        <p:nvPicPr>
          <p:cNvPr id="280" name="picture 2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09311" y="5880198"/>
            <a:ext cx="73321" cy="245558"/>
          </a:xfrm>
          <a:prstGeom prst="rect">
            <a:avLst/>
          </a:prstGeom>
        </p:spPr>
      </p:pic>
      <p:sp>
        <p:nvSpPr>
          <p:cNvPr id="282" name="textbox 282"/>
          <p:cNvSpPr/>
          <p:nvPr/>
        </p:nvSpPr>
        <p:spPr>
          <a:xfrm>
            <a:off x="7419161" y="5979094"/>
            <a:ext cx="63500" cy="6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30"/>
              </a:lnSpc>
              <a:tabLst/>
            </a:pPr>
            <a:r>
              <a:rPr sz="500" kern="0" spc="-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n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7470214" y="5885494"/>
            <a:ext cx="57785" cy="7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87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c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7398109" y="6056732"/>
            <a:ext cx="63500" cy="92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tabLst/>
            </a:pPr>
            <a:r>
              <a:rPr sz="600" kern="0" spc="-4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2</a:t>
            </a:r>
            <a:endParaRPr sz="600" dirty="0">
              <a:latin typeface="Segoe UI"/>
              <a:ea typeface="Segoe UI"/>
              <a:cs typeface="Segoe UI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7398576" y="5869679"/>
            <a:ext cx="62230" cy="8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500" kern="0" spc="10" dirty="0">
                <a:solidFill>
                  <a:srgbClr val="2C3E50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293013" y="7235103"/>
            <a:ext cx="10107295" cy="163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9"/>
              </a:lnSpc>
              <a:tabLst/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file:///C:/Users/vigne/Downloads/gemini-svg.svg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1/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465931" y="6406608"/>
            <a:ext cx="9774555" cy="130175"/>
          </a:xfrm>
          <a:prstGeom prst="rect">
            <a:avLst/>
          </a:prstGeom>
          <a:solidFill>
            <a:srgbClr val="071B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248025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500" kern="0" spc="1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PROJECT</a:t>
            </a:r>
            <a:r>
              <a:rPr sz="500" kern="0" spc="9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kern="0" spc="1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PRESENTATION COMPLETED</a:t>
            </a:r>
            <a:r>
              <a:rPr sz="500" kern="0" spc="6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kern="0" spc="1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|</a:t>
            </a:r>
            <a:r>
              <a:rPr sz="500" kern="0" spc="5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kern="0" spc="1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DEPARTMENT OF COMPUTER SCIENCE</a:t>
            </a:r>
            <a:r>
              <a:rPr sz="500" kern="0" spc="4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kern="0" spc="1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&amp;</a:t>
            </a:r>
            <a:r>
              <a:rPr sz="500" kern="0" spc="6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kern="0" spc="1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ENGINEERING</a:t>
            </a:r>
            <a:r>
              <a:rPr sz="500" kern="0" spc="5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kern="0" spc="10" dirty="0">
                <a:solidFill>
                  <a:srgbClr val="7F8C8D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| THANK YOU!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graphicFrame>
        <p:nvGraphicFramePr>
          <p:cNvPr id="294" name="table 294"/>
          <p:cNvGraphicFramePr>
            <a:graphicFrameLocks noGrp="1"/>
          </p:cNvGraphicFramePr>
          <p:nvPr/>
        </p:nvGraphicFramePr>
        <p:xfrm>
          <a:off x="8416598" y="1136747"/>
          <a:ext cx="1723390" cy="558800"/>
        </p:xfrm>
        <a:graphic>
          <a:graphicData uri="http://schemas.openxmlformats.org/drawingml/2006/table">
            <a:tbl>
              <a:tblPr>
                <a:solidFill>
                  <a:srgbClr val="0D2847"/>
                </a:solidFill>
              </a:tblPr>
              <a:tblGrid>
                <a:gridCol w="1723390"/>
              </a:tblGrid>
              <a:tr h="549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3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PROJECT TEAM</a:t>
                      </a:r>
                      <a:r>
                        <a:rPr sz="600" b="1" kern="0" spc="7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3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</a:t>
                      </a:r>
                      <a:r>
                        <a:rPr sz="600" b="1" kern="0" spc="20" dirty="0">
                          <a:solidFill>
                            <a:srgbClr val="F5B04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EMBERS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113665" algn="l" rtl="0" eaLnBrk="0">
                        <a:lnSpc>
                          <a:spcPct val="76000"/>
                        </a:lnSpc>
                        <a:spcBef>
                          <a:spcPts val="463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9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Manikanta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113665" algn="l" rtl="0" eaLnBrk="0">
                        <a:lnSpc>
                          <a:spcPct val="86000"/>
                        </a:lnSpc>
                        <a:spcBef>
                          <a:spcPts val="356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 Vignesh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66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600" kern="0" spc="-1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6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Ram</a:t>
                      </a:r>
                      <a:r>
                        <a:rPr sz="600" kern="0" spc="4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Charan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6" name="table 296"/>
          <p:cNvGraphicFramePr>
            <a:graphicFrameLocks noGrp="1"/>
          </p:cNvGraphicFramePr>
          <p:nvPr/>
        </p:nvGraphicFramePr>
        <p:xfrm>
          <a:off x="8831223" y="4036145"/>
          <a:ext cx="1231900" cy="685800"/>
        </p:xfrm>
        <a:graphic>
          <a:graphicData uri="http://schemas.openxmlformats.org/drawingml/2006/table">
            <a:tbl>
              <a:tblPr>
                <a:solidFill>
                  <a:srgbClr val="1C2833"/>
                </a:solidFill>
              </a:tblPr>
              <a:tblGrid>
                <a:gridCol w="1231900"/>
              </a:tblGrid>
              <a:tr h="673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500" b="1" kern="0" spc="1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Room Availabl</a:t>
                      </a:r>
                      <a:r>
                        <a:rPr sz="500" b="1" kern="0" spc="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8265" algn="l" rtl="0" eaLnBrk="0">
                        <a:lnSpc>
                          <a:spcPct val="93000"/>
                        </a:lnSpc>
                        <a:spcBef>
                          <a:spcPts val="394"/>
                        </a:spcBef>
                        <a:tabLst/>
                      </a:pPr>
                      <a:r>
                        <a:rPr sz="400" kern="0" spc="3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Next:</a:t>
                      </a:r>
                      <a:r>
                        <a:rPr sz="400" kern="0" spc="13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400" kern="0" spc="3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Discrete</a:t>
                      </a:r>
                      <a:r>
                        <a:rPr sz="400" kern="0" spc="7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400" kern="0" spc="3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Math</a:t>
                      </a:r>
                      <a:r>
                        <a:rPr sz="400" kern="0" spc="5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400" kern="0" spc="3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(11:00)</a:t>
                      </a:r>
                      <a:endParaRPr sz="4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5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400" kern="0" spc="20" dirty="0">
                          <a:solidFill>
                            <a:srgbClr val="2ECC7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Door Open</a:t>
                      </a:r>
                      <a:r>
                        <a:rPr sz="400" kern="0" spc="40" dirty="0">
                          <a:solidFill>
                            <a:srgbClr val="2ECC7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400" kern="0" spc="20" dirty="0">
                          <a:solidFill>
                            <a:srgbClr val="2ECC7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400" kern="0" spc="50" dirty="0">
                          <a:solidFill>
                            <a:srgbClr val="2ECC7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400" kern="0" spc="20" dirty="0">
                          <a:solidFill>
                            <a:srgbClr val="2ECC7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Eco-Mode A</a:t>
                      </a:r>
                      <a:r>
                        <a:rPr sz="400" kern="0" spc="10" dirty="0">
                          <a:solidFill>
                            <a:srgbClr val="2ECC7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ctive</a:t>
                      </a:r>
                      <a:endParaRPr sz="4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8" name="table 298"/>
          <p:cNvGraphicFramePr>
            <a:graphicFrameLocks noGrp="1"/>
          </p:cNvGraphicFramePr>
          <p:nvPr/>
        </p:nvGraphicFramePr>
        <p:xfrm>
          <a:off x="7401481" y="4036145"/>
          <a:ext cx="1231900" cy="685800"/>
        </p:xfrm>
        <a:graphic>
          <a:graphicData uri="http://schemas.openxmlformats.org/drawingml/2006/table">
            <a:tbl>
              <a:tblPr>
                <a:solidFill>
                  <a:srgbClr val="1C2833"/>
                </a:solidFill>
              </a:tblPr>
              <a:tblGrid>
                <a:gridCol w="1231900"/>
              </a:tblGrid>
              <a:tr h="673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9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500" b="1" kern="0" spc="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CS</a:t>
                      </a:r>
                      <a:r>
                        <a:rPr sz="500" b="1" kern="0" spc="4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301: </a:t>
                      </a:r>
                      <a:r>
                        <a:rPr sz="500" b="1" kern="0" spc="0" dirty="0">
                          <a:solidFill>
                            <a:srgbClr val="ECF0F1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Algorithms</a:t>
                      </a:r>
                      <a:endParaRPr sz="5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8265" algn="l" rtl="0" eaLnBrk="0">
                        <a:lnSpc>
                          <a:spcPct val="78000"/>
                        </a:lnSpc>
                        <a:spcBef>
                          <a:spcPts val="316"/>
                        </a:spcBef>
                        <a:tabLst/>
                      </a:pPr>
                      <a:r>
                        <a:rPr sz="400" kern="0" spc="3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Lecturer:</a:t>
                      </a:r>
                      <a:r>
                        <a:rPr sz="400" kern="0" spc="15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400" kern="0" spc="30" dirty="0">
                          <a:solidFill>
                            <a:srgbClr val="BDC3C7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Dr. Sharma</a:t>
                      </a:r>
                      <a:endParaRPr sz="4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5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400" kern="0" spc="20" dirty="0">
                          <a:solidFill>
                            <a:srgbClr val="E74C3C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Door</a:t>
                      </a:r>
                      <a:r>
                        <a:rPr sz="400" kern="0" spc="40" dirty="0">
                          <a:solidFill>
                            <a:srgbClr val="E74C3C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400" kern="0" spc="20" dirty="0">
                          <a:solidFill>
                            <a:srgbClr val="E74C3C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Locked</a:t>
                      </a:r>
                      <a:r>
                        <a:rPr sz="400" kern="0" spc="50" dirty="0">
                          <a:solidFill>
                            <a:srgbClr val="E74C3C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400" kern="0" spc="20" dirty="0">
                          <a:solidFill>
                            <a:srgbClr val="E74C3C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 Qui</a:t>
                      </a:r>
                      <a:r>
                        <a:rPr sz="400" kern="0" spc="10" dirty="0">
                          <a:solidFill>
                            <a:srgbClr val="E74C3C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et Zone</a:t>
                      </a:r>
                      <a:endParaRPr sz="4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</a:tbl>
          </a:graphicData>
        </a:graphic>
      </p:graphicFrame>
      <p:sp>
        <p:nvSpPr>
          <p:cNvPr id="300" name="textbox 300"/>
          <p:cNvSpPr/>
          <p:nvPr/>
        </p:nvSpPr>
        <p:spPr>
          <a:xfrm>
            <a:off x="303167" y="167553"/>
            <a:ext cx="5996940" cy="163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9"/>
              </a:lnSpc>
              <a:tabLst/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10/16/26, 8:01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AM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gemini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svg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svg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3585368" y="3235595"/>
            <a:ext cx="3535680" cy="218440"/>
          </a:xfrm>
          <a:prstGeom prst="rect">
            <a:avLst/>
          </a:prstGeom>
          <a:solidFill>
            <a:srgbClr val="0D3B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9220" algn="l" rtl="0" eaLnBrk="0">
              <a:lnSpc>
                <a:spcPct val="73000"/>
              </a:lnSpc>
              <a:spcBef>
                <a:spcPts val="1"/>
              </a:spcBef>
              <a:tabLst/>
            </a:pP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3  AI</a:t>
            </a:r>
            <a:r>
              <a:rPr sz="800" b="1" kern="0" spc="12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CONSTRAINT  SATISFACTION</a:t>
            </a:r>
            <a:r>
              <a:rPr sz="800" b="1" kern="0" spc="15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MATRIX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3585368" y="5107013"/>
            <a:ext cx="3535680" cy="218440"/>
          </a:xfrm>
          <a:prstGeom prst="rect">
            <a:avLst/>
          </a:prstGeom>
          <a:solidFill>
            <a:srgbClr val="0D3B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0490" algn="l" rtl="0" eaLnBrk="0">
              <a:lnSpc>
                <a:spcPct val="73000"/>
              </a:lnSpc>
              <a:spcBef>
                <a:spcPts val="1"/>
              </a:spcBef>
              <a:tabLst/>
            </a:pPr>
            <a:r>
              <a:rPr sz="800" b="1" kern="0" spc="4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5  OPERATIONAL</a:t>
            </a:r>
            <a:r>
              <a:rPr sz="800" b="1" kern="0" spc="14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4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DEMONSTRATION</a:t>
            </a:r>
            <a:r>
              <a:rPr sz="800" b="1" kern="0" spc="9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4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W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ORKFLOW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306" name="textbox 306"/>
          <p:cNvSpPr/>
          <p:nvPr/>
        </p:nvSpPr>
        <p:spPr>
          <a:xfrm>
            <a:off x="3585368" y="1832031"/>
            <a:ext cx="3535680" cy="218440"/>
          </a:xfrm>
          <a:prstGeom prst="rect">
            <a:avLst/>
          </a:prstGeom>
          <a:solidFill>
            <a:srgbClr val="0D3B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7950" algn="l" rtl="0" eaLnBrk="0">
              <a:lnSpc>
                <a:spcPct val="73000"/>
              </a:lnSpc>
              <a:spcBef>
                <a:spcPts val="1"/>
              </a:spcBef>
              <a:tabLst/>
            </a:pP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2</a:t>
            </a:r>
            <a:r>
              <a:rPr sz="800" b="1" kern="0" spc="7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SYSTEM</a:t>
            </a:r>
            <a:r>
              <a:rPr sz="800" b="1" kern="0" spc="9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ARCHITECTURE</a:t>
            </a:r>
            <a:r>
              <a:rPr sz="800" b="1" kern="0" spc="12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&amp;</a:t>
            </a:r>
            <a:r>
              <a:rPr sz="800" b="1" kern="0" spc="15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2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DATA</a:t>
            </a:r>
            <a:r>
              <a:rPr sz="800" b="1" kern="0" spc="14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2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FLOW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graphicFrame>
        <p:nvGraphicFramePr>
          <p:cNvPr id="308" name="table 308"/>
          <p:cNvGraphicFramePr>
            <a:graphicFrameLocks noGrp="1"/>
          </p:cNvGraphicFramePr>
          <p:nvPr/>
        </p:nvGraphicFramePr>
        <p:xfrm>
          <a:off x="4881235" y="2140035"/>
          <a:ext cx="943610" cy="787400"/>
        </p:xfrm>
        <a:graphic>
          <a:graphicData uri="http://schemas.openxmlformats.org/drawingml/2006/table">
            <a:tbl>
              <a:tblPr/>
              <a:tblGrid>
                <a:gridCol w="943610"/>
              </a:tblGrid>
              <a:tr h="777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Phase</a:t>
                      </a:r>
                      <a:r>
                        <a:rPr sz="600" b="1" kern="0" spc="-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2: 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AI</a:t>
                      </a:r>
                      <a:r>
                        <a:rPr sz="600" b="1" kern="0" spc="6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Solver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7630" algn="l" rtl="0" eaLnBrk="0">
                        <a:lnSpc>
                          <a:spcPct val="76000"/>
                        </a:lnSpc>
                        <a:spcBef>
                          <a:spcPts val="476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CSP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Combinatorics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7630" algn="l" rtl="0" eaLnBrk="0">
                        <a:lnSpc>
                          <a:spcPct val="77000"/>
                        </a:lnSpc>
                        <a:spcBef>
                          <a:spcPts val="265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 Clash Verificat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ion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7630" algn="l" rtl="0" eaLnBrk="0">
                        <a:lnSpc>
                          <a:spcPct val="86000"/>
                        </a:lnSpc>
                        <a:spcBef>
                          <a:spcPts val="273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 Workload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Bala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ncing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 Transit</a:t>
                      </a:r>
                      <a:r>
                        <a:rPr sz="600" kern="0" spc="10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Minima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0" name="table 310"/>
          <p:cNvGraphicFramePr>
            <a:graphicFrameLocks noGrp="1"/>
          </p:cNvGraphicFramePr>
          <p:nvPr/>
        </p:nvGraphicFramePr>
        <p:xfrm>
          <a:off x="3711446" y="2140035"/>
          <a:ext cx="943610" cy="787400"/>
        </p:xfrm>
        <a:graphic>
          <a:graphicData uri="http://schemas.openxmlformats.org/drawingml/2006/table">
            <a:tbl>
              <a:tblPr>
                <a:solidFill>
                  <a:srgbClr val="EAF2F8"/>
                </a:solidFill>
              </a:tblPr>
              <a:tblGrid>
                <a:gridCol w="943610"/>
              </a:tblGrid>
              <a:tr h="777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600" b="1" kern="0" spc="-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Phase</a:t>
                      </a:r>
                      <a:r>
                        <a:rPr sz="600" b="1" kern="0" spc="12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-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1:</a:t>
                      </a:r>
                      <a:r>
                        <a:rPr sz="600" b="1" kern="0" spc="6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-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Ingestion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7630" algn="l" rtl="0" eaLnBrk="0">
                        <a:lnSpc>
                          <a:spcPct val="86000"/>
                        </a:lnSpc>
                        <a:spcBef>
                          <a:spcPts val="404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Faculty W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orkloads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7630" algn="l" rtl="0" eaLnBrk="0">
                        <a:lnSpc>
                          <a:spcPct val="85000"/>
                        </a:lnSpc>
                        <a:spcBef>
                          <a:spcPts val="202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Room Capa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cities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7630" algn="l" rtl="0" eaLnBrk="0">
                        <a:lnSpc>
                          <a:spcPct val="85000"/>
                        </a:lnSpc>
                        <a:spcBef>
                          <a:spcPts val="205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7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Lab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Equipment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10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Student</a:t>
                      </a:r>
                      <a:r>
                        <a:rPr sz="600" kern="0" spc="4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Strengths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312" name="rect 312"/>
          <p:cNvSpPr/>
          <p:nvPr/>
        </p:nvSpPr>
        <p:spPr>
          <a:xfrm>
            <a:off x="6054923" y="2143934"/>
            <a:ext cx="935831" cy="779757"/>
          </a:xfrm>
          <a:prstGeom prst="rect">
            <a:avLst/>
          </a:prstGeom>
          <a:solidFill>
            <a:srgbClr val="EAF2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14" name="table 314"/>
          <p:cNvGraphicFramePr>
            <a:graphicFrameLocks noGrp="1"/>
          </p:cNvGraphicFramePr>
          <p:nvPr/>
        </p:nvGraphicFramePr>
        <p:xfrm>
          <a:off x="6051024" y="2140035"/>
          <a:ext cx="943609" cy="787400"/>
        </p:xfrm>
        <a:graphic>
          <a:graphicData uri="http://schemas.openxmlformats.org/drawingml/2006/table">
            <a:tbl>
              <a:tblPr/>
              <a:tblGrid>
                <a:gridCol w="943609"/>
              </a:tblGrid>
              <a:tr h="777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600" b="1" kern="0" spc="-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Phase</a:t>
                      </a:r>
                      <a:r>
                        <a:rPr sz="600" b="1" kern="0" spc="1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-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3:</a:t>
                      </a:r>
                      <a:r>
                        <a:rPr sz="600" b="1" kern="0" spc="5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b="1" kern="0" spc="-10" dirty="0">
                          <a:solidFill>
                            <a:srgbClr val="0B1E36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Edge Sync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7630" algn="l" rtl="0" eaLnBrk="0">
                        <a:lnSpc>
                          <a:spcPct val="85000"/>
                        </a:lnSpc>
                        <a:spcBef>
                          <a:spcPts val="405"/>
                        </a:spcBef>
                        <a:tabLst/>
                      </a:pP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Student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M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obile App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7630" algn="l" rtl="0" eaLnBrk="0">
                        <a:lnSpc>
                          <a:spcPct val="86000"/>
                        </a:lnSpc>
                        <a:spcBef>
                          <a:spcPts val="206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Faculty Web</a:t>
                      </a:r>
                      <a:r>
                        <a:rPr sz="600" kern="0" spc="5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U</a:t>
                      </a:r>
                      <a:r>
                        <a:rPr sz="600" kern="0" spc="-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I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marL="87630" algn="l" rtl="0" eaLnBrk="0">
                        <a:lnSpc>
                          <a:spcPct val="73000"/>
                        </a:lnSpc>
                        <a:spcBef>
                          <a:spcPts val="213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1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Door OLED</a:t>
                      </a:r>
                      <a:r>
                        <a:rPr sz="600" kern="0" spc="3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Status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•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ESP32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Door</a:t>
                      </a:r>
                      <a:r>
                        <a:rPr sz="600" kern="0" spc="6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Rela</a:t>
                      </a:r>
                      <a:r>
                        <a:rPr sz="600" kern="0" spc="-20" dirty="0">
                          <a:solidFill>
                            <a:srgbClr val="2C3E50">
                              <a:alpha val="100000"/>
                            </a:srgbClr>
                          </a:solidFill>
                          <a:latin typeface="Segoe UI"/>
                          <a:ea typeface="Segoe UI"/>
                          <a:cs typeface="Segoe UI"/>
                        </a:rPr>
                        <a:t>ys</a:t>
                      </a:r>
                      <a:endParaRPr sz="600" dirty="0">
                        <a:latin typeface="Segoe UI"/>
                        <a:ea typeface="Segoe UI"/>
                        <a:cs typeface="Segoe U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8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6" name="textbox 316"/>
          <p:cNvSpPr/>
          <p:nvPr/>
        </p:nvSpPr>
        <p:spPr>
          <a:xfrm>
            <a:off x="7224712" y="5158996"/>
            <a:ext cx="3015615" cy="218440"/>
          </a:xfrm>
          <a:prstGeom prst="rect">
            <a:avLst/>
          </a:prstGeom>
          <a:solidFill>
            <a:srgbClr val="0D3B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7315" algn="l" rtl="0" eaLnBrk="0">
              <a:lnSpc>
                <a:spcPct val="73000"/>
              </a:lnSpc>
              <a:spcBef>
                <a:spcPts val="1"/>
              </a:spcBef>
              <a:tabLst/>
            </a:pP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8</a:t>
            </a:r>
            <a:r>
              <a:rPr sz="800" b="1" kern="0" spc="11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PRACTICAL</a:t>
            </a:r>
            <a:r>
              <a:rPr sz="800" b="1" kern="0" spc="10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APPLICATIONS</a:t>
            </a:r>
            <a:r>
              <a:rPr sz="800" b="1" kern="0" spc="11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&amp;</a:t>
            </a:r>
            <a:r>
              <a:rPr sz="800" b="1" kern="0" spc="15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RESULTS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465931" y="1832031"/>
            <a:ext cx="3015615" cy="218440"/>
          </a:xfrm>
          <a:prstGeom prst="rect">
            <a:avLst/>
          </a:prstGeom>
          <a:solidFill>
            <a:srgbClr val="0D3B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4300" algn="l" rtl="0" eaLnBrk="0">
              <a:lnSpc>
                <a:spcPct val="73000"/>
              </a:lnSpc>
              <a:spcBef>
                <a:spcPts val="4"/>
              </a:spcBef>
              <a:tabLst/>
            </a:pP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1</a:t>
            </a:r>
            <a:r>
              <a:rPr sz="800" b="1" kern="0" spc="9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SYSTEM</a:t>
            </a:r>
            <a:r>
              <a:rPr sz="800" b="1" kern="0" spc="11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OVERVIEW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7224712" y="3703448"/>
            <a:ext cx="3015615" cy="218440"/>
          </a:xfrm>
          <a:prstGeom prst="rect">
            <a:avLst/>
          </a:prstGeom>
          <a:solidFill>
            <a:srgbClr val="0D3B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8585" algn="l" rtl="0" eaLnBrk="0">
              <a:lnSpc>
                <a:spcPct val="73000"/>
              </a:lnSpc>
              <a:spcBef>
                <a:spcPts val="1"/>
              </a:spcBef>
              <a:tabLst/>
            </a:pP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7</a:t>
            </a:r>
            <a:r>
              <a:rPr sz="800" b="1" kern="0" spc="7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SMART</a:t>
            </a:r>
            <a:r>
              <a:rPr sz="800" b="1" kern="0" spc="16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DOORWAY</a:t>
            </a:r>
            <a:r>
              <a:rPr sz="800" b="1" kern="0" spc="15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D</a:t>
            </a:r>
            <a:r>
              <a:rPr sz="800" b="1" kern="0" spc="2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ISPLAY</a:t>
            </a:r>
            <a:r>
              <a:rPr sz="800" b="1" kern="0" spc="14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800" b="1" kern="0" spc="2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MODES</a:t>
            </a:r>
            <a:endParaRPr sz="800" dirty="0">
              <a:latin typeface="Segoe UI"/>
              <a:ea typeface="Segoe UI"/>
              <a:cs typeface="Segoe UI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21903" y="1208225"/>
            <a:ext cx="415925" cy="415870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710146" y="5465701"/>
            <a:ext cx="166369" cy="868130"/>
          </a:xfrm>
          <a:prstGeom prst="rect">
            <a:avLst/>
          </a:prstGeom>
        </p:spPr>
      </p:pic>
      <p:sp>
        <p:nvSpPr>
          <p:cNvPr id="326" name="textbox 326"/>
          <p:cNvSpPr/>
          <p:nvPr/>
        </p:nvSpPr>
        <p:spPr>
          <a:xfrm>
            <a:off x="1030850" y="5075977"/>
            <a:ext cx="73152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500" b="1" kern="0" spc="3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IoT</a:t>
            </a:r>
            <a:r>
              <a:rPr sz="500" b="1" kern="0" spc="6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b="1" kern="0" spc="3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Hardwar</a:t>
            </a:r>
            <a:r>
              <a:rPr sz="500" b="1" kern="0" spc="2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</a:t>
            </a:r>
            <a:r>
              <a:rPr sz="500" b="1" kern="0" spc="7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b="1" kern="0" spc="20" dirty="0">
                <a:solidFill>
                  <a:srgbClr val="0B1E36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Relays</a:t>
            </a:r>
            <a:endParaRPr sz="500" dirty="0">
              <a:latin typeface="Segoe UI"/>
              <a:ea typeface="Segoe UI"/>
              <a:cs typeface="Segoe U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500" kern="0" spc="0" dirty="0">
                <a:solidFill>
                  <a:srgbClr val="34495E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ESP</a:t>
            </a:r>
            <a:r>
              <a:rPr sz="500" kern="0" spc="30" dirty="0">
                <a:solidFill>
                  <a:srgbClr val="34495E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32 &amp;</a:t>
            </a:r>
            <a:r>
              <a:rPr sz="500" kern="0" spc="70" dirty="0">
                <a:solidFill>
                  <a:srgbClr val="34495E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kern="0" spc="0" dirty="0">
                <a:solidFill>
                  <a:srgbClr val="34495E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Sound</a:t>
            </a:r>
            <a:r>
              <a:rPr sz="500" kern="0" spc="40" dirty="0">
                <a:solidFill>
                  <a:srgbClr val="34495E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500" kern="0" spc="0" dirty="0">
                <a:solidFill>
                  <a:srgbClr val="34495E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Sensors</a:t>
            </a:r>
            <a:endParaRPr sz="500" dirty="0">
              <a:latin typeface="Segoe UI"/>
              <a:ea typeface="Segoe UI"/>
              <a:cs typeface="Segoe UI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7484665" y="4119319"/>
            <a:ext cx="364490" cy="125095"/>
          </a:xfrm>
          <a:prstGeom prst="rect">
            <a:avLst/>
          </a:prstGeom>
          <a:solidFill>
            <a:srgbClr val="C0392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98425" algn="l" rtl="0" eaLnBrk="0">
              <a:lnSpc>
                <a:spcPct val="74000"/>
              </a:lnSpc>
              <a:spcBef>
                <a:spcPts val="1"/>
              </a:spcBef>
              <a:tabLst/>
            </a:pPr>
            <a:r>
              <a:rPr sz="400" b="1" kern="0" spc="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B</a:t>
            </a:r>
            <a:endParaRPr sz="400" dirty="0">
              <a:latin typeface="Segoe UI"/>
              <a:ea typeface="Segoe UI"/>
              <a:cs typeface="Segoe UI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8914408" y="4119319"/>
            <a:ext cx="364490" cy="125095"/>
          </a:xfrm>
          <a:prstGeom prst="rect">
            <a:avLst/>
          </a:prstGeom>
          <a:solidFill>
            <a:srgbClr val="27AE60">
              <a:alpha val="94117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08585" algn="l" rtl="0" eaLnBrk="0">
              <a:lnSpc>
                <a:spcPct val="74000"/>
              </a:lnSpc>
              <a:spcBef>
                <a:spcPts val="1"/>
              </a:spcBef>
              <a:tabLst/>
            </a:pPr>
            <a:r>
              <a:rPr sz="400" b="1" kern="0" spc="30" dirty="0">
                <a:solidFill>
                  <a:srgbClr val="FFFFFF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FREE</a:t>
            </a:r>
            <a:endParaRPr sz="400" dirty="0">
              <a:latin typeface="Segoe UI"/>
              <a:ea typeface="Segoe UI"/>
              <a:cs typeface="Segoe UI"/>
            </a:endParaRPr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32301" y="3531902"/>
            <a:ext cx="187166" cy="187142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32301" y="3142023"/>
            <a:ext cx="187166" cy="187142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2301" y="2362266"/>
            <a:ext cx="187166" cy="187141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32301" y="2752145"/>
            <a:ext cx="187166" cy="187141"/>
          </a:xfrm>
          <a:prstGeom prst="rect">
            <a:avLst/>
          </a:prstGeom>
        </p:spPr>
      </p:pic>
      <p:sp>
        <p:nvSpPr>
          <p:cNvPr id="340" name="textbox 340"/>
          <p:cNvSpPr/>
          <p:nvPr/>
        </p:nvSpPr>
        <p:spPr>
          <a:xfrm>
            <a:off x="699442" y="3189144"/>
            <a:ext cx="122554" cy="102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600" kern="0" spc="150" dirty="0">
                <a:solidFill>
                  <a:srgbClr val="FFFFFF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唰</a:t>
            </a:r>
            <a:endParaRPr sz="600" dirty="0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42" name="textbox 342"/>
          <p:cNvSpPr/>
          <p:nvPr/>
        </p:nvSpPr>
        <p:spPr>
          <a:xfrm>
            <a:off x="675969" y="2806914"/>
            <a:ext cx="95250" cy="90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600" kern="0" spc="230" dirty="0">
                <a:solidFill>
                  <a:srgbClr val="FFFFFF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⊗</a:t>
            </a:r>
            <a:endParaRPr sz="6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344" name="path 344"/>
          <p:cNvSpPr/>
          <p:nvPr/>
        </p:nvSpPr>
        <p:spPr>
          <a:xfrm>
            <a:off x="5872956" y="2526015"/>
            <a:ext cx="129976" cy="15595"/>
          </a:xfrm>
          <a:custGeom>
            <a:avLst/>
            <a:gdLst/>
            <a:ahLst/>
            <a:cxnLst/>
            <a:rect l="0" t="0" r="0" b="0"/>
            <a:pathLst>
              <a:path w="204" h="24">
                <a:moveTo>
                  <a:pt x="0" y="12"/>
                </a:moveTo>
                <a:lnTo>
                  <a:pt x="204" y="12"/>
                </a:lnTo>
              </a:path>
            </a:pathLst>
          </a:custGeom>
          <a:noFill/>
          <a:ln w="15596" cap="flat">
            <a:solidFill>
              <a:srgbClr val="2980B9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6" name="path 346"/>
          <p:cNvSpPr/>
          <p:nvPr/>
        </p:nvSpPr>
        <p:spPr>
          <a:xfrm>
            <a:off x="10106612" y="1675595"/>
            <a:ext cx="21292" cy="16812"/>
          </a:xfrm>
          <a:custGeom>
            <a:avLst/>
            <a:gdLst/>
            <a:ahLst/>
            <a:cxnLst/>
            <a:rect l="0" t="0" r="0" b="0"/>
            <a:pathLst>
              <a:path w="33" h="26">
                <a:moveTo>
                  <a:pt x="27" y="6"/>
                </a:moveTo>
                <a:cubicBezTo>
                  <a:pt x="21" y="12"/>
                  <a:pt x="14" y="17"/>
                  <a:pt x="6" y="20"/>
                </a:cubicBezTo>
              </a:path>
            </a:pathLst>
          </a:custGeom>
          <a:noFill/>
          <a:ln w="7798" cap="flat">
            <a:solidFill>
              <a:srgbClr val="2980B9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path 348"/>
          <p:cNvSpPr/>
          <p:nvPr/>
        </p:nvSpPr>
        <p:spPr>
          <a:xfrm>
            <a:off x="10210593" y="5038949"/>
            <a:ext cx="21292" cy="16812"/>
          </a:xfrm>
          <a:custGeom>
            <a:avLst/>
            <a:gdLst/>
            <a:ahLst/>
            <a:cxnLst/>
            <a:rect l="0" t="0" r="0" b="0"/>
            <a:pathLst>
              <a:path w="33" h="26">
                <a:moveTo>
                  <a:pt x="27" y="6"/>
                </a:moveTo>
                <a:cubicBezTo>
                  <a:pt x="21" y="12"/>
                  <a:pt x="14" y="17"/>
                  <a:pt x="6" y="20"/>
                </a:cubicBezTo>
              </a:path>
            </a:pathLst>
          </a:custGeom>
          <a:noFill/>
          <a:ln w="7798" cap="flat">
            <a:solidFill>
              <a:srgbClr val="1B4F72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Mozilla/5.0 (Windows NT 10.0; Win64; x64) AppleWebKit/537.36 (KHTML, like Gecko) Chrome/155.0.0.0 Safari/537.36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gemini-svg.svg</dc:title>
  <dcterms:created xsi:type="dcterms:W3CDTF">2026-10-16T02:31:58Z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2026-10-16T13:42:56</vt:filetime>
  </property>
</Properties>
</file>